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6" r:id="rId2"/>
  </p:sldMasterIdLst>
  <p:notesMasterIdLst>
    <p:notesMasterId r:id="rId14"/>
  </p:notesMasterIdLst>
  <p:sldIdLst>
    <p:sldId id="256" r:id="rId3"/>
    <p:sldId id="274" r:id="rId4"/>
    <p:sldId id="266" r:id="rId5"/>
    <p:sldId id="271" r:id="rId6"/>
    <p:sldId id="272" r:id="rId7"/>
    <p:sldId id="275" r:id="rId8"/>
    <p:sldId id="276" r:id="rId9"/>
    <p:sldId id="277" r:id="rId10"/>
    <p:sldId id="264" r:id="rId11"/>
    <p:sldId id="278"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2" autoAdjust="0"/>
    <p:restoredTop sz="80086" autoAdjust="0"/>
  </p:normalViewPr>
  <p:slideViewPr>
    <p:cSldViewPr snapToGrid="0">
      <p:cViewPr>
        <p:scale>
          <a:sx n="71" d="100"/>
          <a:sy n="71" d="100"/>
        </p:scale>
        <p:origin x="273"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A839D-85BC-490A-A2BC-262D102ABF54}" type="datetimeFigureOut">
              <a:rPr lang="zh-CN" altLang="en-US" smtClean="0"/>
              <a:t>2024/10/27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3EE29-B5AD-4804-9442-1C805C6C807F}" type="slidenum">
              <a:rPr lang="zh-CN" altLang="en-US" smtClean="0"/>
              <a:t>‹#›</a:t>
            </a:fld>
            <a:endParaRPr lang="zh-CN" altLang="en-US"/>
          </a:p>
        </p:txBody>
      </p:sp>
    </p:spTree>
    <p:extLst>
      <p:ext uri="{BB962C8B-B14F-4D97-AF65-F5344CB8AC3E}">
        <p14:creationId xmlns:p14="http://schemas.microsoft.com/office/powerpoint/2010/main" val="3695086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等线" panose="02010600030101010101" pitchFamily="2" charset="-122"/>
                <a:cs typeface="Times New Roman" panose="02020603050405020304" pitchFamily="18" charset="0"/>
              </a:rPr>
              <a:t>Good afternoon</a:t>
            </a:r>
            <a:r>
              <a:rPr lang="zh-CN" sz="1800" dirty="0">
                <a:effectLst/>
                <a:latin typeface="Calibri" panose="020F0502020204030204" pitchFamily="34" charset="0"/>
                <a:ea typeface="等线" panose="02010600030101010101" pitchFamily="2" charset="-122"/>
                <a:cs typeface="Times New Roman" panose="02020603050405020304" pitchFamily="18" charset="0"/>
              </a:rPr>
              <a:t>，</a:t>
            </a:r>
            <a:r>
              <a:rPr lang="en-US" sz="1800" dirty="0">
                <a:effectLst/>
                <a:latin typeface="Calibri" panose="020F0502020204030204" pitchFamily="34" charset="0"/>
                <a:ea typeface="等线" panose="02010600030101010101" pitchFamily="2" charset="-122"/>
                <a:cs typeface="Times New Roman" panose="02020603050405020304" pitchFamily="18" charset="0"/>
              </a:rPr>
              <a:t>I’m an undergraduate student from NANJING UNIVERSITY. I’m Liu </a:t>
            </a:r>
            <a:r>
              <a:rPr lang="en-US" sz="1800" dirty="0" err="1">
                <a:effectLst/>
                <a:latin typeface="Calibri" panose="020F0502020204030204" pitchFamily="34" charset="0"/>
                <a:ea typeface="等线" panose="02010600030101010101" pitchFamily="2" charset="-122"/>
                <a:cs typeface="Times New Roman" panose="02020603050405020304" pitchFamily="18" charset="0"/>
              </a:rPr>
              <a:t>ZIhang</a:t>
            </a:r>
            <a:r>
              <a:rPr lang="en-US" sz="1800" dirty="0">
                <a:effectLst/>
                <a:latin typeface="Calibri" panose="020F0502020204030204" pitchFamily="34" charset="0"/>
                <a:ea typeface="等线" panose="02010600030101010101" pitchFamily="2" charset="-122"/>
                <a:cs typeface="Times New Roman" panose="02020603050405020304" pitchFamily="18" charset="0"/>
              </a:rPr>
              <a:t>. On behalf of my </a:t>
            </a:r>
            <a:r>
              <a:rPr lang="en-US" sz="1800" dirty="0" err="1">
                <a:effectLst/>
                <a:latin typeface="Calibri" panose="020F0502020204030204" pitchFamily="34" charset="0"/>
                <a:ea typeface="等线" panose="02010600030101010101" pitchFamily="2" charset="-122"/>
                <a:cs typeface="Times New Roman" panose="02020603050405020304" pitchFamily="18" charset="0"/>
              </a:rPr>
              <a:t>parterner</a:t>
            </a:r>
            <a:r>
              <a:rPr lang="en-US" sz="1800" dirty="0">
                <a:effectLst/>
                <a:latin typeface="Calibri" panose="020F0502020204030204" pitchFamily="34" charset="0"/>
                <a:ea typeface="等线" panose="02010600030101010101" pitchFamily="2" charset="-122"/>
                <a:cs typeface="Times New Roman" panose="02020603050405020304" pitchFamily="18" charset="0"/>
              </a:rPr>
              <a:t>, and my teacher, I’m glad to have a talk about our research.</a:t>
            </a:r>
          </a:p>
        </p:txBody>
      </p:sp>
      <p:sp>
        <p:nvSpPr>
          <p:cNvPr id="4" name="Slide Number Placeholder 3"/>
          <p:cNvSpPr>
            <a:spLocks noGrp="1"/>
          </p:cNvSpPr>
          <p:nvPr>
            <p:ph type="sldNum" sz="quarter" idx="5"/>
          </p:nvPr>
        </p:nvSpPr>
        <p:spPr/>
        <p:txBody>
          <a:bodyPr/>
          <a:lstStyle/>
          <a:p>
            <a:fld id="{7203EE29-B5AD-4804-9442-1C805C6C807F}" type="slidenum">
              <a:rPr lang="zh-CN" altLang="en-US" smtClean="0"/>
              <a:t>1</a:t>
            </a:fld>
            <a:endParaRPr lang="zh-CN" altLang="en-US"/>
          </a:p>
        </p:txBody>
      </p:sp>
    </p:spTree>
    <p:extLst>
      <p:ext uri="{BB962C8B-B14F-4D97-AF65-F5344CB8AC3E}">
        <p14:creationId xmlns:p14="http://schemas.microsoft.com/office/powerpoint/2010/main" val="7033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等线" panose="02010600030101010101" pitchFamily="2" charset="-122"/>
                <a:cs typeface="Times New Roman" panose="02020603050405020304" pitchFamily="18" charset="0"/>
              </a:rPr>
              <a:t>To begin with,  I’m going to show some results. From this image, this </a:t>
            </a:r>
            <a:r>
              <a:rPr lang="en-US" altLang="zh-CN" sz="1800" dirty="0">
                <a:effectLst/>
                <a:latin typeface="Calibri" panose="020F0502020204030204" pitchFamily="34" charset="0"/>
                <a:ea typeface="等线" panose="02010600030101010101" pitchFamily="2" charset="-122"/>
                <a:cs typeface="Times New Roman" panose="02020603050405020304" pitchFamily="18" charset="0"/>
              </a:rPr>
              <a:t>column is LHAASO counts map, the second column is TS map, and the third column is reconstructed image using machine learning. </a:t>
            </a:r>
            <a:r>
              <a:rPr lang="en-US" sz="1800" dirty="0">
                <a:effectLst/>
                <a:latin typeface="Calibri" panose="020F0502020204030204" pitchFamily="34" charset="0"/>
                <a:ea typeface="等线" panose="02010600030101010101" pitchFamily="2" charset="-122"/>
                <a:cs typeface="Times New Roman" panose="02020603050405020304" pitchFamily="18" charset="0"/>
              </a:rPr>
              <a:t>We have correctly reconstructed the LHAASO image and significantly improved the angular resolution.</a:t>
            </a:r>
          </a:p>
        </p:txBody>
      </p:sp>
      <p:sp>
        <p:nvSpPr>
          <p:cNvPr id="4" name="灯片编号占位符 3"/>
          <p:cNvSpPr>
            <a:spLocks noGrp="1"/>
          </p:cNvSpPr>
          <p:nvPr>
            <p:ph type="sldNum" sz="quarter" idx="5"/>
          </p:nvPr>
        </p:nvSpPr>
        <p:spPr/>
        <p:txBody>
          <a:bodyPr/>
          <a:lstStyle/>
          <a:p>
            <a:fld id="{7203EE29-B5AD-4804-9442-1C805C6C807F}" type="slidenum">
              <a:rPr lang="zh-CN" altLang="en-US" smtClean="0"/>
              <a:t>2</a:t>
            </a:fld>
            <a:endParaRPr lang="zh-CN" altLang="en-US"/>
          </a:p>
        </p:txBody>
      </p:sp>
    </p:spTree>
    <p:extLst>
      <p:ext uri="{BB962C8B-B14F-4D97-AF65-F5344CB8AC3E}">
        <p14:creationId xmlns:p14="http://schemas.microsoft.com/office/powerpoint/2010/main" val="3429882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等线" panose="02010600030101010101" pitchFamily="2" charset="-122"/>
                <a:cs typeface="Times New Roman" panose="02020603050405020304" pitchFamily="18" charset="0"/>
              </a:rPr>
              <a:t>Then, how do we do it? Firstly, we need to collect dataset. We obtained the data from Fermi gamma-ray background model. So imagine this as the real object far from the universe, and at one time it’s obtained by LHAASO detectors but due to the limitations on angular resolution, we can only get this blurry image. Then a few years latter we have built more detectors so we get this clear one. We get the real PSF data from LHAASO and fitted it, we improved it to 0.1 for the clear image. What’s more, we used the simulated Gaussian type extended source as the source type dataset.</a:t>
            </a:r>
          </a:p>
        </p:txBody>
      </p:sp>
      <p:sp>
        <p:nvSpPr>
          <p:cNvPr id="4" name="Slide Number Placeholder 3"/>
          <p:cNvSpPr>
            <a:spLocks noGrp="1"/>
          </p:cNvSpPr>
          <p:nvPr>
            <p:ph type="sldNum" sz="quarter" idx="5"/>
          </p:nvPr>
        </p:nvSpPr>
        <p:spPr/>
        <p:txBody>
          <a:bodyPr/>
          <a:lstStyle/>
          <a:p>
            <a:fld id="{7203EE29-B5AD-4804-9442-1C805C6C807F}" type="slidenum">
              <a:rPr lang="zh-CN" altLang="en-US" smtClean="0"/>
              <a:t>3</a:t>
            </a:fld>
            <a:endParaRPr lang="zh-CN" altLang="en-US"/>
          </a:p>
        </p:txBody>
      </p:sp>
    </p:spTree>
    <p:extLst>
      <p:ext uri="{BB962C8B-B14F-4D97-AF65-F5344CB8AC3E}">
        <p14:creationId xmlns:p14="http://schemas.microsoft.com/office/powerpoint/2010/main" val="4162450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等线" panose="02010600030101010101" pitchFamily="2" charset="-122"/>
                <a:cs typeface="Times New Roman" panose="02020603050405020304" pitchFamily="18" charset="0"/>
              </a:rPr>
              <a:t>So we put 20000 pairs of this kind of images into training for 1000 times. These are the blurry ones, and these are the clear ones, and these are the reconstructed ones we produced. T</a:t>
            </a:r>
            <a:r>
              <a:rPr lang="en-US" altLang="zh-CN" sz="1800" dirty="0">
                <a:effectLst/>
                <a:latin typeface="Calibri" panose="020F0502020204030204" pitchFamily="34" charset="0"/>
                <a:ea typeface="等线" panose="02010600030101010101" pitchFamily="2" charset="-122"/>
                <a:cs typeface="Times New Roman" panose="02020603050405020304" pitchFamily="18" charset="0"/>
              </a:rPr>
              <a:t>hey are quite similar</a:t>
            </a:r>
            <a:r>
              <a:rPr lang="en-US" sz="1800" dirty="0">
                <a:effectLst/>
                <a:latin typeface="Calibri" panose="020F0502020204030204" pitchFamily="34" charset="0"/>
                <a:ea typeface="等线" panose="02010600030101010101" pitchFamily="2" charset="-122"/>
                <a:cs typeface="Times New Roman" panose="02020603050405020304" pitchFamily="18" charset="0"/>
              </a:rPr>
              <a:t>, right? We did more analysis. This is the residual map to original image, which means the difference to the clear image. This is the J-S Divergence graph, which could kindly respond to the PSF distribution. The RES map shows that the reconstructed image is RIGHT, and the JS graph shows that it’s good.</a:t>
            </a:r>
          </a:p>
        </p:txBody>
      </p:sp>
      <p:sp>
        <p:nvSpPr>
          <p:cNvPr id="4" name="灯片编号占位符 3"/>
          <p:cNvSpPr>
            <a:spLocks noGrp="1"/>
          </p:cNvSpPr>
          <p:nvPr>
            <p:ph type="sldNum" sz="quarter" idx="5"/>
          </p:nvPr>
        </p:nvSpPr>
        <p:spPr/>
        <p:txBody>
          <a:bodyPr/>
          <a:lstStyle/>
          <a:p>
            <a:fld id="{7203EE29-B5AD-4804-9442-1C805C6C807F}" type="slidenum">
              <a:rPr lang="zh-CN" altLang="en-US" smtClean="0"/>
              <a:t>4</a:t>
            </a:fld>
            <a:endParaRPr lang="zh-CN" altLang="en-US"/>
          </a:p>
        </p:txBody>
      </p:sp>
    </p:spTree>
    <p:extLst>
      <p:ext uri="{BB962C8B-B14F-4D97-AF65-F5344CB8AC3E}">
        <p14:creationId xmlns:p14="http://schemas.microsoft.com/office/powerpoint/2010/main" val="2630884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dirty="0">
                <a:effectLst/>
                <a:latin typeface="Calibri" panose="020F0502020204030204" pitchFamily="34" charset="0"/>
                <a:ea typeface="等线" panose="02010600030101010101" pitchFamily="2" charset="-122"/>
                <a:cs typeface="Times New Roman" panose="02020603050405020304" pitchFamily="18" charset="0"/>
              </a:rPr>
              <a:t>The RES map shows that the reconstructed image is RIGHT, and the JS graph shows that it’s good.</a:t>
            </a:r>
            <a:endParaRPr lang="zh-CN" altLang="en-US" dirty="0"/>
          </a:p>
        </p:txBody>
      </p:sp>
      <p:sp>
        <p:nvSpPr>
          <p:cNvPr id="4" name="灯片编号占位符 3"/>
          <p:cNvSpPr>
            <a:spLocks noGrp="1"/>
          </p:cNvSpPr>
          <p:nvPr>
            <p:ph type="sldNum" sz="quarter" idx="5"/>
          </p:nvPr>
        </p:nvSpPr>
        <p:spPr/>
        <p:txBody>
          <a:bodyPr/>
          <a:lstStyle/>
          <a:p>
            <a:fld id="{7203EE29-B5AD-4804-9442-1C805C6C807F}" type="slidenum">
              <a:rPr lang="zh-CN" altLang="en-US" smtClean="0"/>
              <a:t>5</a:t>
            </a:fld>
            <a:endParaRPr lang="zh-CN" altLang="en-US"/>
          </a:p>
        </p:txBody>
      </p:sp>
    </p:spTree>
    <p:extLst>
      <p:ext uri="{BB962C8B-B14F-4D97-AF65-F5344CB8AC3E}">
        <p14:creationId xmlns:p14="http://schemas.microsoft.com/office/powerpoint/2010/main" val="2651633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dirty="0">
                <a:effectLst/>
                <a:latin typeface="Calibri" panose="020F0502020204030204" pitchFamily="34" charset="0"/>
                <a:ea typeface="等线" panose="02010600030101010101" pitchFamily="2" charset="-122"/>
                <a:cs typeface="Times New Roman" panose="02020603050405020304" pitchFamily="18" charset="0"/>
              </a:rPr>
              <a:t>This is the J-S Divergence graph, which could kindly respond to the PSF distribution. The blue line, our reconstructed image, is better than the red line.</a:t>
            </a:r>
          </a:p>
          <a:p>
            <a:endParaRPr lang="en-US" altLang="zh-CN" sz="1200" dirty="0">
              <a:effectLst/>
              <a:latin typeface="Calibri" panose="020F0502020204030204" pitchFamily="34" charset="0"/>
              <a:ea typeface="等线" panose="02010600030101010101" pitchFamily="2" charset="-122"/>
              <a:cs typeface="Times New Roman" panose="02020603050405020304" pitchFamily="18" charset="0"/>
            </a:endParaRPr>
          </a:p>
          <a:p>
            <a:r>
              <a:rPr lang="en-US" sz="1200" dirty="0">
                <a:effectLst/>
                <a:latin typeface="Calibri" panose="020F0502020204030204" pitchFamily="34" charset="0"/>
                <a:ea typeface="等线" panose="02010600030101010101" pitchFamily="2" charset="-122"/>
                <a:cs typeface="Times New Roman" panose="02020603050405020304" pitchFamily="18" charset="0"/>
              </a:rPr>
              <a:t>The RES map shows that the reconstructed image is RIGHT, and the JS graph shows that it’s good.</a:t>
            </a:r>
            <a:endParaRPr lang="zh-CN" altLang="en-US" dirty="0"/>
          </a:p>
        </p:txBody>
      </p:sp>
      <p:sp>
        <p:nvSpPr>
          <p:cNvPr id="4" name="灯片编号占位符 3"/>
          <p:cNvSpPr>
            <a:spLocks noGrp="1"/>
          </p:cNvSpPr>
          <p:nvPr>
            <p:ph type="sldNum" sz="quarter" idx="5"/>
          </p:nvPr>
        </p:nvSpPr>
        <p:spPr/>
        <p:txBody>
          <a:bodyPr/>
          <a:lstStyle/>
          <a:p>
            <a:fld id="{7203EE29-B5AD-4804-9442-1C805C6C807F}" type="slidenum">
              <a:rPr lang="zh-CN" altLang="en-US" smtClean="0"/>
              <a:t>6</a:t>
            </a:fld>
            <a:endParaRPr lang="zh-CN" altLang="en-US"/>
          </a:p>
        </p:txBody>
      </p:sp>
    </p:spTree>
    <p:extLst>
      <p:ext uri="{BB962C8B-B14F-4D97-AF65-F5344CB8AC3E}">
        <p14:creationId xmlns:p14="http://schemas.microsoft.com/office/powerpoint/2010/main" val="3626092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等线" panose="02010600030101010101" pitchFamily="2" charset="-122"/>
                <a:cs typeface="Times New Roman" panose="02020603050405020304" pitchFamily="18" charset="0"/>
              </a:rPr>
              <a:t>Furtherly, we put the model into the use of LHAASO observation. This is the counts map of real LHAASO resources, which contains strong Poisson Noise. Thus we re-trained the model by adding noise to the blurred data and applied the model to five selected LHAASO sources. This is the TS map and this is the reconstructed image. The significance map shows that the model works, and we indeed enhanced the angular resolution.</a:t>
            </a:r>
          </a:p>
        </p:txBody>
      </p:sp>
      <p:sp>
        <p:nvSpPr>
          <p:cNvPr id="4" name="灯片编号占位符 3"/>
          <p:cNvSpPr>
            <a:spLocks noGrp="1"/>
          </p:cNvSpPr>
          <p:nvPr>
            <p:ph type="sldNum" sz="quarter" idx="5"/>
          </p:nvPr>
        </p:nvSpPr>
        <p:spPr/>
        <p:txBody>
          <a:bodyPr/>
          <a:lstStyle/>
          <a:p>
            <a:fld id="{7203EE29-B5AD-4804-9442-1C805C6C807F}" type="slidenum">
              <a:rPr lang="zh-CN" altLang="en-US" smtClean="0"/>
              <a:t>7</a:t>
            </a:fld>
            <a:endParaRPr lang="zh-CN" altLang="en-US"/>
          </a:p>
        </p:txBody>
      </p:sp>
    </p:spTree>
    <p:extLst>
      <p:ext uri="{BB962C8B-B14F-4D97-AF65-F5344CB8AC3E}">
        <p14:creationId xmlns:p14="http://schemas.microsoft.com/office/powerpoint/2010/main" val="2344220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03EE29-B5AD-4804-9442-1C805C6C807F}" type="slidenum">
              <a:rPr lang="zh-CN" altLang="en-US" smtClean="0"/>
              <a:t>8</a:t>
            </a:fld>
            <a:endParaRPr lang="zh-CN" altLang="en-US"/>
          </a:p>
        </p:txBody>
      </p:sp>
    </p:spTree>
    <p:extLst>
      <p:ext uri="{BB962C8B-B14F-4D97-AF65-F5344CB8AC3E}">
        <p14:creationId xmlns:p14="http://schemas.microsoft.com/office/powerpoint/2010/main" val="2087504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等线" panose="02010600030101010101" pitchFamily="2" charset="-122"/>
                <a:cs typeface="Times New Roman" panose="02020603050405020304" pitchFamily="18" charset="0"/>
              </a:rPr>
              <a:t>At last is the technical details. Maybe you’ll be interested in these parameters, the Energy, bin and data size.</a:t>
            </a:r>
          </a:p>
        </p:txBody>
      </p:sp>
      <p:sp>
        <p:nvSpPr>
          <p:cNvPr id="4" name="Slide Number Placeholder 3"/>
          <p:cNvSpPr>
            <a:spLocks noGrp="1"/>
          </p:cNvSpPr>
          <p:nvPr>
            <p:ph type="sldNum" sz="quarter" idx="5"/>
          </p:nvPr>
        </p:nvSpPr>
        <p:spPr/>
        <p:txBody>
          <a:bodyPr/>
          <a:lstStyle/>
          <a:p>
            <a:fld id="{7203EE29-B5AD-4804-9442-1C805C6C807F}" type="slidenum">
              <a:rPr lang="zh-CN" altLang="en-US" smtClean="0"/>
              <a:t>10</a:t>
            </a:fld>
            <a:endParaRPr lang="zh-CN" altLang="en-US"/>
          </a:p>
        </p:txBody>
      </p:sp>
    </p:spTree>
    <p:extLst>
      <p:ext uri="{BB962C8B-B14F-4D97-AF65-F5344CB8AC3E}">
        <p14:creationId xmlns:p14="http://schemas.microsoft.com/office/powerpoint/2010/main" val="220568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zh-CN" alt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EC819FA-42B6-4E3E-B1FB-50195A2E62E1}" type="slidenum">
              <a:rPr lang="zh-CN" altLang="en-US" smtClean="0"/>
              <a:t>‹#›</a:t>
            </a:fld>
            <a:endParaRPr lang="zh-CN" alt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039265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393753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2958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1802802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zh-CN" altLang="en-US"/>
              <a:t>单击此处编辑母版文本样式</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1982417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2214508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3186788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zh-CN" altLang="en-US"/>
              <a:t>单击此处编辑母版标题样式</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4071043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1945644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8437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3421857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zh-CN" alt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EC819FA-42B6-4E3E-B1FB-50195A2E62E1}" type="slidenum">
              <a:rPr lang="zh-CN" altLang="en-US" smtClean="0"/>
              <a:t>‹#›</a:t>
            </a:fld>
            <a:endParaRPr lang="zh-CN" alt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5058758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1944209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06363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352765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zh-CN" altLang="en-US"/>
              <a:t>单击此处编辑母版文本样式</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330106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37227268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2345496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zh-CN" altLang="en-US"/>
              <a:t>单击此处编辑母版标题样式</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997150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1592777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2409410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2131597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zh-CN" alt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23126667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397452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9D231399-4F5D-4ED9-A2B1-34939C9343E9}" type="datetimeFigureOut">
              <a:rPr lang="zh-CN" altLang="en-US" smtClean="0"/>
              <a:t>2024/10/27</a:t>
            </a:fld>
            <a:endParaRPr lang="zh-CN" alt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zh-CN" alt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EC819FA-42B6-4E3E-B1FB-50195A2E62E1}" type="slidenum">
              <a:rPr lang="zh-CN" altLang="en-US" smtClean="0"/>
              <a:t>‹#›</a:t>
            </a:fld>
            <a:endParaRPr lang="zh-CN" altLang="en-US"/>
          </a:p>
        </p:txBody>
      </p:sp>
    </p:spTree>
    <p:extLst>
      <p:ext uri="{BB962C8B-B14F-4D97-AF65-F5344CB8AC3E}">
        <p14:creationId xmlns:p14="http://schemas.microsoft.com/office/powerpoint/2010/main" val="101417378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1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2">
            <a:extLst>
              <a:ext uri="{FF2B5EF4-FFF2-40B4-BE49-F238E27FC236}">
                <a16:creationId xmlns:a16="http://schemas.microsoft.com/office/drawing/2014/main" id="{70552314-4696-4889-A7FB-16BAE83A5F1E}"/>
              </a:ext>
            </a:extLst>
          </p:cNvPr>
          <p:cNvSpPr txBox="1"/>
          <p:nvPr/>
        </p:nvSpPr>
        <p:spPr>
          <a:xfrm>
            <a:off x="-2672378" y="2234764"/>
            <a:ext cx="17536755" cy="2281766"/>
          </a:xfrm>
          <a:prstGeom prst="rect">
            <a:avLst/>
          </a:prstGeom>
        </p:spPr>
        <p:txBody>
          <a:bodyPr vert="horz" wrap="square" lIns="0" tIns="27039" rIns="0" bIns="0" rtlCol="0">
            <a:spAutoFit/>
          </a:bodyPr>
          <a:lstStyle/>
          <a:p>
            <a:pPr marL="504290" marR="347461" algn="ctr">
              <a:spcBef>
                <a:spcPts val="212"/>
              </a:spcBef>
            </a:pPr>
            <a:r>
              <a:rPr lang="en-US" sz="4400" b="1" dirty="0">
                <a:latin typeface="Times New Roman"/>
                <a:cs typeface="Times New Roman"/>
              </a:rPr>
              <a:t>Enhancing the Angular Resolution of LHAASO </a:t>
            </a:r>
          </a:p>
          <a:p>
            <a:pPr marL="504290" marR="347461" algn="ctr">
              <a:spcBef>
                <a:spcPts val="212"/>
              </a:spcBef>
            </a:pPr>
            <a:r>
              <a:rPr lang="en-US" sz="4400" b="1" dirty="0">
                <a:latin typeface="Times New Roman"/>
                <a:cs typeface="Times New Roman"/>
              </a:rPr>
              <a:t>with Machine Learning</a:t>
            </a:r>
            <a:endParaRPr lang="en-US" sz="4400" dirty="0">
              <a:latin typeface="Times New Roman"/>
              <a:cs typeface="Times New Roman"/>
            </a:endParaRPr>
          </a:p>
          <a:p>
            <a:pPr marL="144664" algn="ctr">
              <a:spcBef>
                <a:spcPts val="127"/>
              </a:spcBef>
            </a:pPr>
            <a:r>
              <a:rPr lang="en-US" sz="2400" spc="-224" dirty="0">
                <a:latin typeface="Times New Roman"/>
                <a:cs typeface="Times New Roman"/>
              </a:rPr>
              <a:t>Zi-Hang L</a:t>
            </a:r>
            <a:r>
              <a:rPr lang="en-US" altLang="zh-CN" sz="2400" spc="-224" dirty="0">
                <a:latin typeface="Times New Roman"/>
                <a:cs typeface="Times New Roman"/>
              </a:rPr>
              <a:t>iu</a:t>
            </a:r>
            <a:r>
              <a:rPr lang="en-US" sz="2400" baseline="24691" dirty="0">
                <a:latin typeface="Times New Roman"/>
                <a:cs typeface="Times New Roman"/>
              </a:rPr>
              <a:t>2</a:t>
            </a:r>
            <a:r>
              <a:rPr lang="en-US" sz="2400" spc="-54" dirty="0">
                <a:latin typeface="Times New Roman"/>
                <a:cs typeface="Times New Roman"/>
              </a:rPr>
              <a:t>, Xing-Wei Gong</a:t>
            </a:r>
            <a:r>
              <a:rPr lang="en-US" sz="2400" baseline="24691" dirty="0">
                <a:latin typeface="Times New Roman"/>
                <a:cs typeface="Times New Roman"/>
              </a:rPr>
              <a:t>1</a:t>
            </a:r>
            <a:r>
              <a:rPr lang="en-US" sz="2400" spc="-54" dirty="0">
                <a:latin typeface="Times New Roman"/>
                <a:cs typeface="Times New Roman"/>
              </a:rPr>
              <a:t>, Xiao Tang</a:t>
            </a:r>
            <a:r>
              <a:rPr lang="en-US" sz="2400" baseline="24691" dirty="0">
                <a:latin typeface="Times New Roman"/>
                <a:cs typeface="Times New Roman"/>
              </a:rPr>
              <a:t>1</a:t>
            </a:r>
            <a:r>
              <a:rPr lang="en-US" sz="2400" spc="-54" dirty="0">
                <a:latin typeface="Times New Roman"/>
                <a:cs typeface="Times New Roman"/>
              </a:rPr>
              <a:t>, Lei He</a:t>
            </a:r>
            <a:r>
              <a:rPr lang="en-US" sz="2400" baseline="24691" dirty="0">
                <a:latin typeface="Times New Roman"/>
                <a:cs typeface="Times New Roman"/>
              </a:rPr>
              <a:t>1</a:t>
            </a:r>
            <a:r>
              <a:rPr lang="en-US" sz="2400" dirty="0">
                <a:uFill>
                  <a:solidFill>
                    <a:srgbClr val="000000"/>
                  </a:solidFill>
                </a:uFill>
                <a:latin typeface="Times New Roman"/>
                <a:cs typeface="Times New Roman"/>
              </a:rPr>
              <a:t>, </a:t>
            </a:r>
            <a:r>
              <a:rPr lang="en-US" sz="2400" dirty="0" err="1">
                <a:uFill>
                  <a:solidFill>
                    <a:srgbClr val="000000"/>
                  </a:solidFill>
                </a:uFill>
                <a:latin typeface="Times New Roman"/>
                <a:cs typeface="Times New Roman"/>
              </a:rPr>
              <a:t>Ruo</a:t>
            </a:r>
            <a:r>
              <a:rPr lang="en-US" sz="2400" dirty="0">
                <a:uFill>
                  <a:solidFill>
                    <a:srgbClr val="000000"/>
                  </a:solidFill>
                </a:uFill>
                <a:latin typeface="Times New Roman"/>
                <a:cs typeface="Times New Roman"/>
              </a:rPr>
              <a:t>-Yu Liu</a:t>
            </a:r>
            <a:r>
              <a:rPr lang="en-US" sz="2400" spc="-79" baseline="24691" dirty="0">
                <a:latin typeface="Times New Roman"/>
                <a:cs typeface="Times New Roman"/>
              </a:rPr>
              <a:t>1</a:t>
            </a:r>
            <a:r>
              <a:rPr lang="en-US" sz="2400" spc="-54" dirty="0">
                <a:latin typeface="Times New Roman"/>
                <a:cs typeface="Times New Roman"/>
              </a:rPr>
              <a:t>, </a:t>
            </a:r>
            <a:endParaRPr sz="2400" baseline="24691" dirty="0">
              <a:latin typeface="Times New Roman"/>
              <a:cs typeface="Times New Roman"/>
            </a:endParaRPr>
          </a:p>
          <a:p>
            <a:pPr marL="68949" algn="ctr"/>
            <a:endParaRPr lang="en-US" sz="1200" spc="-14" baseline="25925" dirty="0">
              <a:latin typeface="Times New Roman"/>
              <a:cs typeface="Times New Roman"/>
            </a:endParaRPr>
          </a:p>
          <a:p>
            <a:pPr marL="68949" algn="ctr"/>
            <a:r>
              <a:rPr sz="1200" spc="-14" baseline="25925" dirty="0">
                <a:latin typeface="Times New Roman"/>
                <a:cs typeface="Times New Roman"/>
              </a:rPr>
              <a:t>1</a:t>
            </a:r>
            <a:r>
              <a:rPr lang="en-US" sz="1200" spc="286" baseline="25925" dirty="0">
                <a:latin typeface="Times New Roman"/>
                <a:cs typeface="Times New Roman"/>
              </a:rPr>
              <a:t> </a:t>
            </a:r>
            <a:r>
              <a:rPr lang="en-US" sz="1200" dirty="0">
                <a:latin typeface="Times New Roman"/>
                <a:cs typeface="Times New Roman"/>
              </a:rPr>
              <a:t>School of Astronomy &amp; Space Science, Nanjing University, Nanjing, China</a:t>
            </a:r>
          </a:p>
          <a:p>
            <a:pPr marL="68949" algn="ctr"/>
            <a:r>
              <a:rPr lang="en-US" sz="1200" spc="-14" baseline="25925" dirty="0">
                <a:latin typeface="Times New Roman"/>
                <a:cs typeface="Times New Roman"/>
              </a:rPr>
              <a:t>2</a:t>
            </a:r>
            <a:r>
              <a:rPr lang="en-US" sz="1200" spc="286" baseline="25925" dirty="0">
                <a:latin typeface="Times New Roman"/>
                <a:cs typeface="Times New Roman"/>
              </a:rPr>
              <a:t> </a:t>
            </a:r>
            <a:r>
              <a:rPr lang="en-US" sz="1200" dirty="0">
                <a:latin typeface="Times New Roman"/>
                <a:cs typeface="Times New Roman"/>
              </a:rPr>
              <a:t>School of Physics, Nanjing University, Nanjing, China</a:t>
            </a:r>
            <a:endParaRPr sz="1400" dirty="0">
              <a:latin typeface="Times New Roman"/>
              <a:cs typeface="Times New Roman"/>
            </a:endParaRPr>
          </a:p>
        </p:txBody>
      </p:sp>
    </p:spTree>
    <p:extLst>
      <p:ext uri="{BB962C8B-B14F-4D97-AF65-F5344CB8AC3E}">
        <p14:creationId xmlns:p14="http://schemas.microsoft.com/office/powerpoint/2010/main" val="1545902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D5A7212-93EC-4A30-BDCA-A0E12A151743}"/>
              </a:ext>
            </a:extLst>
          </p:cNvPr>
          <p:cNvGrpSpPr/>
          <p:nvPr/>
        </p:nvGrpSpPr>
        <p:grpSpPr>
          <a:xfrm>
            <a:off x="1803306" y="313048"/>
            <a:ext cx="7499004" cy="6231904"/>
            <a:chOff x="1199683" y="169529"/>
            <a:chExt cx="7499004" cy="6231904"/>
          </a:xfrm>
        </p:grpSpPr>
        <p:grpSp>
          <p:nvGrpSpPr>
            <p:cNvPr id="14" name="Group 13">
              <a:extLst>
                <a:ext uri="{FF2B5EF4-FFF2-40B4-BE49-F238E27FC236}">
                  <a16:creationId xmlns:a16="http://schemas.microsoft.com/office/drawing/2014/main" id="{7C307EEC-85C6-42BB-BAF4-4F9593EE05C6}"/>
                </a:ext>
              </a:extLst>
            </p:cNvPr>
            <p:cNvGrpSpPr/>
            <p:nvPr/>
          </p:nvGrpSpPr>
          <p:grpSpPr>
            <a:xfrm>
              <a:off x="1199683" y="169529"/>
              <a:ext cx="6946246" cy="5513482"/>
              <a:chOff x="17506122" y="28280461"/>
              <a:chExt cx="10346170" cy="7953332"/>
            </a:xfrm>
          </p:grpSpPr>
          <p:pic>
            <p:nvPicPr>
              <p:cNvPr id="16" name="Picture 15">
                <a:extLst>
                  <a:ext uri="{FF2B5EF4-FFF2-40B4-BE49-F238E27FC236}">
                    <a16:creationId xmlns:a16="http://schemas.microsoft.com/office/drawing/2014/main" id="{55735C73-3972-4DE1-BA26-88F9D43F08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0173"/>
              <a:stretch/>
            </p:blipFill>
            <p:spPr>
              <a:xfrm>
                <a:off x="17506122" y="28794463"/>
                <a:ext cx="10346170" cy="7142013"/>
              </a:xfrm>
              <a:prstGeom prst="rect">
                <a:avLst/>
              </a:prstGeom>
            </p:spPr>
          </p:pic>
          <p:sp>
            <p:nvSpPr>
              <p:cNvPr id="17" name="object 38">
                <a:extLst>
                  <a:ext uri="{FF2B5EF4-FFF2-40B4-BE49-F238E27FC236}">
                    <a16:creationId xmlns:a16="http://schemas.microsoft.com/office/drawing/2014/main" id="{770CEBEA-5D13-476E-9BC4-53AE74FF26D5}"/>
                  </a:ext>
                </a:extLst>
              </p:cNvPr>
              <p:cNvSpPr txBox="1"/>
              <p:nvPr/>
            </p:nvSpPr>
            <p:spPr>
              <a:xfrm>
                <a:off x="19147264" y="28280461"/>
                <a:ext cx="8328540" cy="514002"/>
              </a:xfrm>
              <a:prstGeom prst="rect">
                <a:avLst/>
              </a:prstGeom>
            </p:spPr>
            <p:txBody>
              <a:bodyPr vert="horz" wrap="square" lIns="0" tIns="28390" rIns="0" bIns="0" rtlCol="0">
                <a:spAutoFit/>
              </a:bodyPr>
              <a:lstStyle/>
              <a:p>
                <a:pPr marL="27040">
                  <a:spcBef>
                    <a:spcPts val="224"/>
                  </a:spcBef>
                </a:pPr>
                <a:r>
                  <a:rPr lang="en-US" sz="2129" b="1" i="1" spc="-11" dirty="0">
                    <a:solidFill>
                      <a:srgbClr val="921639"/>
                    </a:solidFill>
                    <a:latin typeface="Calibri"/>
                    <a:cs typeface="Calibri"/>
                  </a:rPr>
                  <a:t>Fig 3. Application to Real LHAASO Observation</a:t>
                </a:r>
                <a:endParaRPr sz="2129" dirty="0">
                  <a:latin typeface="Calibri"/>
                  <a:cs typeface="Calibri"/>
                </a:endParaRPr>
              </a:p>
            </p:txBody>
          </p:sp>
          <p:sp>
            <p:nvSpPr>
              <p:cNvPr id="18" name="object 46">
                <a:extLst>
                  <a:ext uri="{FF2B5EF4-FFF2-40B4-BE49-F238E27FC236}">
                    <a16:creationId xmlns:a16="http://schemas.microsoft.com/office/drawing/2014/main" id="{81FCF94C-3614-4978-BB1D-C940832B8554}"/>
                  </a:ext>
                </a:extLst>
              </p:cNvPr>
              <p:cNvSpPr/>
              <p:nvPr/>
            </p:nvSpPr>
            <p:spPr>
              <a:xfrm rot="16200000">
                <a:off x="18811986" y="35150692"/>
                <a:ext cx="222351" cy="194385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5795" dirty="0"/>
              </a:p>
            </p:txBody>
          </p:sp>
        </p:grpSp>
        <p:sp>
          <p:nvSpPr>
            <p:cNvPr id="19" name="object 56">
              <a:extLst>
                <a:ext uri="{FF2B5EF4-FFF2-40B4-BE49-F238E27FC236}">
                  <a16:creationId xmlns:a16="http://schemas.microsoft.com/office/drawing/2014/main" id="{4E03E5A5-32CD-4971-91F2-DF6D7588D04F}"/>
                </a:ext>
              </a:extLst>
            </p:cNvPr>
            <p:cNvSpPr txBox="1"/>
            <p:nvPr/>
          </p:nvSpPr>
          <p:spPr>
            <a:xfrm rot="5400000">
              <a:off x="2233030" y="5431480"/>
              <a:ext cx="534377" cy="1405530"/>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Counts Map</a:t>
              </a:r>
            </a:p>
            <a:p>
              <a:pPr marL="27040">
                <a:lnSpc>
                  <a:spcPts val="2248"/>
                </a:lnSpc>
              </a:pPr>
              <a:r>
                <a:rPr lang="en-US" sz="1200" b="1" dirty="0">
                  <a:latin typeface="Calibri"/>
                  <a:cs typeface="Calibri"/>
                </a:rPr>
                <a:t> (25-40 </a:t>
              </a:r>
              <a:r>
                <a:rPr lang="en-US" sz="1200" b="1" dirty="0" err="1">
                  <a:latin typeface="Calibri"/>
                  <a:cs typeface="Calibri"/>
                </a:rPr>
                <a:t>TeV</a:t>
              </a:r>
              <a:r>
                <a:rPr lang="en-US" sz="1200" b="1" dirty="0">
                  <a:latin typeface="Calibri"/>
                  <a:cs typeface="Calibri"/>
                </a:rPr>
                <a:t>)</a:t>
              </a:r>
              <a:endParaRPr sz="1200" dirty="0">
                <a:latin typeface="Calibri"/>
                <a:cs typeface="Calibri"/>
              </a:endParaRPr>
            </a:p>
          </p:txBody>
        </p:sp>
        <p:sp>
          <p:nvSpPr>
            <p:cNvPr id="20" name="object 56">
              <a:extLst>
                <a:ext uri="{FF2B5EF4-FFF2-40B4-BE49-F238E27FC236}">
                  <a16:creationId xmlns:a16="http://schemas.microsoft.com/office/drawing/2014/main" id="{3B2C4115-4333-462D-89B7-BC761A0D8EDE}"/>
                </a:ext>
              </a:extLst>
            </p:cNvPr>
            <p:cNvSpPr txBox="1"/>
            <p:nvPr/>
          </p:nvSpPr>
          <p:spPr>
            <a:xfrm rot="5400000">
              <a:off x="3942178" y="5431480"/>
              <a:ext cx="252249" cy="1405530"/>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TS Map</a:t>
              </a:r>
            </a:p>
          </p:txBody>
        </p:sp>
        <p:sp>
          <p:nvSpPr>
            <p:cNvPr id="21" name="object 46">
              <a:extLst>
                <a:ext uri="{FF2B5EF4-FFF2-40B4-BE49-F238E27FC236}">
                  <a16:creationId xmlns:a16="http://schemas.microsoft.com/office/drawing/2014/main" id="{05A311F1-8C1F-4A32-BA29-EED60F8F6A94}"/>
                </a:ext>
              </a:extLst>
            </p:cNvPr>
            <p:cNvSpPr/>
            <p:nvPr/>
          </p:nvSpPr>
          <p:spPr>
            <a:xfrm rot="16200000">
              <a:off x="3753936" y="4904854"/>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2" name="object 46">
              <a:extLst>
                <a:ext uri="{FF2B5EF4-FFF2-40B4-BE49-F238E27FC236}">
                  <a16:creationId xmlns:a16="http://schemas.microsoft.com/office/drawing/2014/main" id="{2EECD449-FAB4-4FA7-92F6-287013642E2D}"/>
                </a:ext>
              </a:extLst>
            </p:cNvPr>
            <p:cNvSpPr/>
            <p:nvPr/>
          </p:nvSpPr>
          <p:spPr>
            <a:xfrm rot="16200000">
              <a:off x="5441056" y="4899640"/>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3" name="object 56">
              <a:extLst>
                <a:ext uri="{FF2B5EF4-FFF2-40B4-BE49-F238E27FC236}">
                  <a16:creationId xmlns:a16="http://schemas.microsoft.com/office/drawing/2014/main" id="{BA1C9976-5975-430B-94EF-FC41BA7C3E8A}"/>
                </a:ext>
              </a:extLst>
            </p:cNvPr>
            <p:cNvSpPr txBox="1"/>
            <p:nvPr/>
          </p:nvSpPr>
          <p:spPr>
            <a:xfrm rot="5400000">
              <a:off x="5476989" y="4930116"/>
              <a:ext cx="252249" cy="2408258"/>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Reconstructed by SRCNN</a:t>
              </a:r>
            </a:p>
          </p:txBody>
        </p:sp>
        <p:sp>
          <p:nvSpPr>
            <p:cNvPr id="24" name="object 46">
              <a:extLst>
                <a:ext uri="{FF2B5EF4-FFF2-40B4-BE49-F238E27FC236}">
                  <a16:creationId xmlns:a16="http://schemas.microsoft.com/office/drawing/2014/main" id="{F236AD70-F4FA-478A-8AB2-EABCDF0A66D2}"/>
                </a:ext>
              </a:extLst>
            </p:cNvPr>
            <p:cNvSpPr/>
            <p:nvPr/>
          </p:nvSpPr>
          <p:spPr>
            <a:xfrm rot="16200000">
              <a:off x="7207292" y="4918533"/>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5" name="object 56">
              <a:extLst>
                <a:ext uri="{FF2B5EF4-FFF2-40B4-BE49-F238E27FC236}">
                  <a16:creationId xmlns:a16="http://schemas.microsoft.com/office/drawing/2014/main" id="{D9DA5314-624F-4DD6-9B18-D4955039958F}"/>
                </a:ext>
              </a:extLst>
            </p:cNvPr>
            <p:cNvSpPr txBox="1"/>
            <p:nvPr/>
          </p:nvSpPr>
          <p:spPr>
            <a:xfrm rot="5400000">
              <a:off x="7368433" y="4930116"/>
              <a:ext cx="252249" cy="2408258"/>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Data along dashed white line</a:t>
              </a:r>
            </a:p>
          </p:txBody>
        </p:sp>
      </p:grpSp>
      <p:sp>
        <p:nvSpPr>
          <p:cNvPr id="26" name="object 38">
            <a:extLst>
              <a:ext uri="{FF2B5EF4-FFF2-40B4-BE49-F238E27FC236}">
                <a16:creationId xmlns:a16="http://schemas.microsoft.com/office/drawing/2014/main" id="{9D2034FB-DC00-45DE-88D7-739154A672E8}"/>
              </a:ext>
            </a:extLst>
          </p:cNvPr>
          <p:cNvSpPr txBox="1"/>
          <p:nvPr/>
        </p:nvSpPr>
        <p:spPr>
          <a:xfrm>
            <a:off x="11523285" y="313048"/>
            <a:ext cx="430887" cy="6392552"/>
          </a:xfrm>
          <a:prstGeom prst="rect">
            <a:avLst/>
          </a:prstGeom>
        </p:spPr>
        <p:txBody>
          <a:bodyPr vert="eaVert" wrap="square" lIns="0" tIns="28390" rIns="0" bIns="0" rtlCol="0">
            <a:spAutoFit/>
          </a:bodyPr>
          <a:lstStyle/>
          <a:p>
            <a:pPr marL="27040">
              <a:spcBef>
                <a:spcPts val="224"/>
              </a:spcBef>
            </a:pPr>
            <a:r>
              <a:rPr lang="en-US" sz="2800" b="1" i="1" spc="-11" dirty="0">
                <a:solidFill>
                  <a:schemeClr val="bg1"/>
                </a:solidFill>
                <a:latin typeface="Calibri"/>
                <a:cs typeface="Calibri"/>
              </a:rPr>
              <a:t>0 RESULTS                                                          </a:t>
            </a:r>
            <a:r>
              <a:rPr lang="en-US" b="1" i="1" spc="-11" dirty="0">
                <a:solidFill>
                  <a:schemeClr val="bg1"/>
                </a:solidFill>
                <a:latin typeface="Calibri"/>
                <a:cs typeface="Calibri"/>
              </a:rPr>
              <a:t>1</a:t>
            </a:r>
            <a:endParaRPr sz="2800" dirty="0">
              <a:solidFill>
                <a:schemeClr val="bg1"/>
              </a:solidFill>
              <a:latin typeface="Calibri"/>
              <a:cs typeface="Calibri"/>
            </a:endParaRPr>
          </a:p>
        </p:txBody>
      </p:sp>
    </p:spTree>
    <p:extLst>
      <p:ext uri="{BB962C8B-B14F-4D97-AF65-F5344CB8AC3E}">
        <p14:creationId xmlns:p14="http://schemas.microsoft.com/office/powerpoint/2010/main" val="111511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2FCF430-EDD9-4FC1-8515-67112CC2E9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7074" b="79406"/>
          <a:stretch/>
        </p:blipFill>
        <p:spPr bwMode="auto">
          <a:xfrm>
            <a:off x="1314852" y="761875"/>
            <a:ext cx="2342314" cy="25811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3EEBCBD4-AD1A-4507-95C2-6D645D6B54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074" b="79406"/>
          <a:stretch/>
        </p:blipFill>
        <p:spPr bwMode="auto">
          <a:xfrm>
            <a:off x="8814796" y="761875"/>
            <a:ext cx="2342314" cy="2581146"/>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DB1188E0-68F9-4F2C-B759-8023A611E8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4428" y="301319"/>
            <a:ext cx="5512814" cy="3502258"/>
          </a:xfrm>
          <a:prstGeom prst="rect">
            <a:avLst/>
          </a:prstGeom>
        </p:spPr>
      </p:pic>
      <p:sp>
        <p:nvSpPr>
          <p:cNvPr id="13" name="文本框 12">
            <a:extLst>
              <a:ext uri="{FF2B5EF4-FFF2-40B4-BE49-F238E27FC236}">
                <a16:creationId xmlns:a16="http://schemas.microsoft.com/office/drawing/2014/main" id="{23A560BE-3B04-42BE-9EFB-4C8F19DDB698}"/>
              </a:ext>
            </a:extLst>
          </p:cNvPr>
          <p:cNvSpPr txBox="1"/>
          <p:nvPr/>
        </p:nvSpPr>
        <p:spPr>
          <a:xfrm>
            <a:off x="3732568" y="0"/>
            <a:ext cx="5056534" cy="369332"/>
          </a:xfrm>
          <a:prstGeom prst="rect">
            <a:avLst/>
          </a:prstGeom>
          <a:noFill/>
        </p:spPr>
        <p:txBody>
          <a:bodyPr wrap="square">
            <a:spAutoFit/>
          </a:bodyPr>
          <a:lstStyle/>
          <a:p>
            <a:r>
              <a:rPr lang="en-US" altLang="zh-CN" dirty="0"/>
              <a:t>Fermi LAT BKG (to HEALPix, NSIDE=1024)</a:t>
            </a:r>
            <a:endParaRPr lang="zh-CN" altLang="en-US" dirty="0"/>
          </a:p>
        </p:txBody>
      </p:sp>
      <p:sp>
        <p:nvSpPr>
          <p:cNvPr id="15" name="文本框 14">
            <a:extLst>
              <a:ext uri="{FF2B5EF4-FFF2-40B4-BE49-F238E27FC236}">
                <a16:creationId xmlns:a16="http://schemas.microsoft.com/office/drawing/2014/main" id="{F6A9315D-F0B0-490D-9428-5BC51713B21C}"/>
              </a:ext>
            </a:extLst>
          </p:cNvPr>
          <p:cNvSpPr txBox="1"/>
          <p:nvPr/>
        </p:nvSpPr>
        <p:spPr>
          <a:xfrm>
            <a:off x="196954" y="1760060"/>
            <a:ext cx="1106499" cy="584775"/>
          </a:xfrm>
          <a:prstGeom prst="rect">
            <a:avLst/>
          </a:prstGeom>
          <a:noFill/>
          <a:ln>
            <a:solidFill>
              <a:schemeClr val="tx1"/>
            </a:solidFill>
          </a:ln>
        </p:spPr>
        <p:txBody>
          <a:bodyPr vert="horz" wrap="square">
            <a:spAutoFit/>
          </a:bodyPr>
          <a:lstStyle/>
          <a:p>
            <a:r>
              <a:rPr lang="en-US" altLang="zh-CN" sz="1600" dirty="0"/>
              <a:t>GENE</a:t>
            </a:r>
          </a:p>
          <a:p>
            <a:r>
              <a:rPr lang="en-US" altLang="zh-CN" sz="1600" dirty="0"/>
              <a:t>RATING</a:t>
            </a:r>
            <a:endParaRPr lang="zh-CN" altLang="en-US" sz="1600" dirty="0"/>
          </a:p>
        </p:txBody>
      </p:sp>
      <p:sp>
        <p:nvSpPr>
          <p:cNvPr id="12" name="object 38">
            <a:extLst>
              <a:ext uri="{FF2B5EF4-FFF2-40B4-BE49-F238E27FC236}">
                <a16:creationId xmlns:a16="http://schemas.microsoft.com/office/drawing/2014/main" id="{B3245F37-1AB1-4203-91D3-20D75D906CE4}"/>
              </a:ext>
            </a:extLst>
          </p:cNvPr>
          <p:cNvSpPr txBox="1"/>
          <p:nvPr/>
        </p:nvSpPr>
        <p:spPr>
          <a:xfrm>
            <a:off x="11523285" y="313047"/>
            <a:ext cx="430887" cy="3608649"/>
          </a:xfrm>
          <a:prstGeom prst="rect">
            <a:avLst/>
          </a:prstGeom>
        </p:spPr>
        <p:txBody>
          <a:bodyPr vert="eaVert" wrap="square" lIns="0" tIns="28390" rIns="0" bIns="0" rtlCol="0">
            <a:spAutoFit/>
          </a:bodyPr>
          <a:lstStyle/>
          <a:p>
            <a:pPr marL="27040">
              <a:spcBef>
                <a:spcPts val="224"/>
              </a:spcBef>
            </a:pPr>
            <a:r>
              <a:rPr lang="en-US" sz="2800" b="1" i="1" spc="-11" dirty="0">
                <a:solidFill>
                  <a:schemeClr val="bg1"/>
                </a:solidFill>
                <a:latin typeface="Calibri"/>
                <a:cs typeface="Calibri"/>
              </a:rPr>
              <a:t>1 DATASET</a:t>
            </a:r>
            <a:endParaRPr sz="2800" dirty="0">
              <a:solidFill>
                <a:schemeClr val="bg1"/>
              </a:solidFill>
              <a:latin typeface="Calibri"/>
              <a:cs typeface="Calibri"/>
            </a:endParaRPr>
          </a:p>
        </p:txBody>
      </p:sp>
      <p:sp>
        <p:nvSpPr>
          <p:cNvPr id="16" name="文本框 14">
            <a:extLst>
              <a:ext uri="{FF2B5EF4-FFF2-40B4-BE49-F238E27FC236}">
                <a16:creationId xmlns:a16="http://schemas.microsoft.com/office/drawing/2014/main" id="{AF423F09-0A3E-4AFB-A8BB-2989B8185353}"/>
              </a:ext>
            </a:extLst>
          </p:cNvPr>
          <p:cNvSpPr txBox="1"/>
          <p:nvPr/>
        </p:nvSpPr>
        <p:spPr>
          <a:xfrm>
            <a:off x="427474" y="4601872"/>
            <a:ext cx="640607" cy="338554"/>
          </a:xfrm>
          <a:prstGeom prst="rect">
            <a:avLst/>
          </a:prstGeom>
          <a:noFill/>
          <a:ln>
            <a:solidFill>
              <a:schemeClr val="tx1"/>
            </a:solidFill>
          </a:ln>
        </p:spPr>
        <p:txBody>
          <a:bodyPr vert="horz" wrap="square">
            <a:spAutoFit/>
          </a:bodyPr>
          <a:lstStyle/>
          <a:p>
            <a:r>
              <a:rPr lang="en-US" altLang="zh-CN" sz="1600" dirty="0"/>
              <a:t>PSF</a:t>
            </a:r>
            <a:endParaRPr lang="zh-CN" altLang="en-US" sz="1600" dirty="0"/>
          </a:p>
        </p:txBody>
      </p:sp>
      <p:pic>
        <p:nvPicPr>
          <p:cNvPr id="17" name="内容占位符 4">
            <a:extLst>
              <a:ext uri="{FF2B5EF4-FFF2-40B4-BE49-F238E27FC236}">
                <a16:creationId xmlns:a16="http://schemas.microsoft.com/office/drawing/2014/main" id="{E626B3B9-E7A3-48BD-8DA2-4396D5BC71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6448" y="3803577"/>
            <a:ext cx="3942418" cy="2956814"/>
          </a:xfrm>
          <a:prstGeom prst="rect">
            <a:avLst/>
          </a:prstGeom>
        </p:spPr>
      </p:pic>
      <p:pic>
        <p:nvPicPr>
          <p:cNvPr id="18" name="Picture 17">
            <a:extLst>
              <a:ext uri="{FF2B5EF4-FFF2-40B4-BE49-F238E27FC236}">
                <a16:creationId xmlns:a16="http://schemas.microsoft.com/office/drawing/2014/main" id="{A1418BEB-058A-4818-B19B-1F5C0A7E8456}"/>
              </a:ext>
            </a:extLst>
          </p:cNvPr>
          <p:cNvPicPr>
            <a:picLocks noChangeAspect="1"/>
          </p:cNvPicPr>
          <p:nvPr/>
        </p:nvPicPr>
        <p:blipFill>
          <a:blip r:embed="rId6"/>
          <a:stretch>
            <a:fillRect/>
          </a:stretch>
        </p:blipFill>
        <p:spPr>
          <a:xfrm>
            <a:off x="7138167" y="4012824"/>
            <a:ext cx="3744144" cy="2687591"/>
          </a:xfrm>
          <a:prstGeom prst="rect">
            <a:avLst/>
          </a:prstGeom>
        </p:spPr>
      </p:pic>
      <p:sp>
        <p:nvSpPr>
          <p:cNvPr id="3" name="Rectangle 2">
            <a:extLst>
              <a:ext uri="{FF2B5EF4-FFF2-40B4-BE49-F238E27FC236}">
                <a16:creationId xmlns:a16="http://schemas.microsoft.com/office/drawing/2014/main" id="{3EA36DD2-5305-45DA-984E-123B2EC09733}"/>
              </a:ext>
            </a:extLst>
          </p:cNvPr>
          <p:cNvSpPr/>
          <p:nvPr/>
        </p:nvSpPr>
        <p:spPr>
          <a:xfrm>
            <a:off x="5967896" y="1643270"/>
            <a:ext cx="147982" cy="176695"/>
          </a:xfrm>
          <a:prstGeom prst="rect">
            <a:avLst/>
          </a:prstGeom>
          <a:solidFill>
            <a:srgbClr val="FFFFFF">
              <a:alpha val="50196"/>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4BE6960F-712D-44AC-8AD2-B15106DF5A1F}"/>
              </a:ext>
            </a:extLst>
          </p:cNvPr>
          <p:cNvSpPr/>
          <p:nvPr/>
        </p:nvSpPr>
        <p:spPr>
          <a:xfrm rot="10339374">
            <a:off x="3502158" y="1788198"/>
            <a:ext cx="2448519" cy="300955"/>
          </a:xfrm>
          <a:prstGeom prst="rightArrow">
            <a:avLst>
              <a:gd name="adj1" fmla="val 20904"/>
              <a:gd name="adj2" fmla="val 8691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E286CF8-5490-45D3-8A27-0BB05CD36652}"/>
              </a:ext>
            </a:extLst>
          </p:cNvPr>
          <p:cNvSpPr txBox="1"/>
          <p:nvPr/>
        </p:nvSpPr>
        <p:spPr>
          <a:xfrm>
            <a:off x="1604865" y="778992"/>
            <a:ext cx="1899563" cy="369332"/>
          </a:xfrm>
          <a:prstGeom prst="rect">
            <a:avLst/>
          </a:prstGeom>
          <a:solidFill>
            <a:schemeClr val="bg1"/>
          </a:solidFill>
        </p:spPr>
        <p:txBody>
          <a:bodyPr wrap="square" rtlCol="0">
            <a:spAutoFit/>
          </a:bodyPr>
          <a:lstStyle/>
          <a:p>
            <a:r>
              <a:rPr lang="en-US" b="1" dirty="0">
                <a:latin typeface="Times New Roman" panose="02020603050405020304" pitchFamily="18" charset="0"/>
                <a:cs typeface="Times New Roman" panose="02020603050405020304" pitchFamily="18" charset="0"/>
              </a:rPr>
              <a:t>Blurry Image</a:t>
            </a:r>
          </a:p>
        </p:txBody>
      </p:sp>
      <p:sp>
        <p:nvSpPr>
          <p:cNvPr id="22" name="TextBox 21">
            <a:extLst>
              <a:ext uri="{FF2B5EF4-FFF2-40B4-BE49-F238E27FC236}">
                <a16:creationId xmlns:a16="http://schemas.microsoft.com/office/drawing/2014/main" id="{6FD2A7EB-8582-4228-BD9F-6E0E78DC3C4B}"/>
              </a:ext>
            </a:extLst>
          </p:cNvPr>
          <p:cNvSpPr txBox="1"/>
          <p:nvPr/>
        </p:nvSpPr>
        <p:spPr>
          <a:xfrm>
            <a:off x="9091126" y="761875"/>
            <a:ext cx="1899563" cy="369332"/>
          </a:xfrm>
          <a:prstGeom prst="rect">
            <a:avLst/>
          </a:prstGeom>
          <a:solidFill>
            <a:schemeClr val="bg1"/>
          </a:solidFill>
        </p:spPr>
        <p:txBody>
          <a:bodyPr wrap="square" rtlCol="0">
            <a:spAutoFit/>
          </a:bodyPr>
          <a:lstStyle/>
          <a:p>
            <a:r>
              <a:rPr lang="en-US" b="1" dirty="0">
                <a:latin typeface="Times New Roman" panose="02020603050405020304" pitchFamily="18" charset="0"/>
                <a:cs typeface="Times New Roman" panose="02020603050405020304" pitchFamily="18" charset="0"/>
              </a:rPr>
              <a:t>Clear Image</a:t>
            </a:r>
          </a:p>
        </p:txBody>
      </p:sp>
      <p:sp>
        <p:nvSpPr>
          <p:cNvPr id="23" name="Arrow: Right 22">
            <a:extLst>
              <a:ext uri="{FF2B5EF4-FFF2-40B4-BE49-F238E27FC236}">
                <a16:creationId xmlns:a16="http://schemas.microsoft.com/office/drawing/2014/main" id="{E09D637F-3C98-42C1-A556-76411BCCB834}"/>
              </a:ext>
            </a:extLst>
          </p:cNvPr>
          <p:cNvSpPr/>
          <p:nvPr/>
        </p:nvSpPr>
        <p:spPr>
          <a:xfrm rot="506575">
            <a:off x="6126415" y="1788196"/>
            <a:ext cx="2877321" cy="300955"/>
          </a:xfrm>
          <a:prstGeom prst="rightArrow">
            <a:avLst>
              <a:gd name="adj1" fmla="val 20904"/>
              <a:gd name="adj2" fmla="val 8691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52F209BC-72E0-4BC4-A690-A3FF6DE7E945}"/>
              </a:ext>
            </a:extLst>
          </p:cNvPr>
          <p:cNvPicPr>
            <a:picLocks noChangeAspect="1"/>
          </p:cNvPicPr>
          <p:nvPr/>
        </p:nvPicPr>
        <p:blipFill>
          <a:blip r:embed="rId7"/>
          <a:stretch>
            <a:fillRect/>
          </a:stretch>
        </p:blipFill>
        <p:spPr>
          <a:xfrm>
            <a:off x="4273025" y="56728"/>
            <a:ext cx="3124636" cy="6601746"/>
          </a:xfrm>
          <a:prstGeom prst="rect">
            <a:avLst/>
          </a:prstGeom>
        </p:spPr>
      </p:pic>
      <p:pic>
        <p:nvPicPr>
          <p:cNvPr id="14" name="图片 4">
            <a:extLst>
              <a:ext uri="{FF2B5EF4-FFF2-40B4-BE49-F238E27FC236}">
                <a16:creationId xmlns:a16="http://schemas.microsoft.com/office/drawing/2014/main" id="{C60B8123-73DB-448F-A19F-79D93B2E72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92" y="0"/>
            <a:ext cx="10822453" cy="6875440"/>
          </a:xfrm>
          <a:prstGeom prst="rect">
            <a:avLst/>
          </a:prstGeom>
        </p:spPr>
      </p:pic>
      <p:sp>
        <p:nvSpPr>
          <p:cNvPr id="26" name="TextBox 25">
            <a:extLst>
              <a:ext uri="{FF2B5EF4-FFF2-40B4-BE49-F238E27FC236}">
                <a16:creationId xmlns:a16="http://schemas.microsoft.com/office/drawing/2014/main" id="{076BE57F-0736-4DF3-8C96-9207407ECDA1}"/>
              </a:ext>
            </a:extLst>
          </p:cNvPr>
          <p:cNvSpPr txBox="1"/>
          <p:nvPr/>
        </p:nvSpPr>
        <p:spPr>
          <a:xfrm>
            <a:off x="8776028" y="3771714"/>
            <a:ext cx="1899563" cy="369332"/>
          </a:xfrm>
          <a:prstGeom prst="rect">
            <a:avLst/>
          </a:prstGeom>
          <a:solidFill>
            <a:schemeClr val="bg1"/>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σ = 0.1</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01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07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1"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153705BD-EBC9-4B5F-91C7-D76B2AA64992}"/>
              </a:ext>
            </a:extLst>
          </p:cNvPr>
          <p:cNvPicPr>
            <a:picLocks noChangeAspect="1"/>
          </p:cNvPicPr>
          <p:nvPr/>
        </p:nvPicPr>
        <p:blipFill rotWithShape="1">
          <a:blip r:embed="rId3">
            <a:extLst>
              <a:ext uri="{28A0092B-C50C-407E-A947-70E740481C1C}">
                <a14:useLocalDpi xmlns:a14="http://schemas.microsoft.com/office/drawing/2010/main" val="0"/>
              </a:ext>
            </a:extLst>
          </a:blip>
          <a:srcRect l="59389"/>
          <a:stretch/>
        </p:blipFill>
        <p:spPr>
          <a:xfrm>
            <a:off x="6953061" y="1144960"/>
            <a:ext cx="5644716" cy="5559716"/>
          </a:xfrm>
          <a:prstGeom prst="rect">
            <a:avLst/>
          </a:prstGeom>
        </p:spPr>
      </p:pic>
      <p:sp>
        <p:nvSpPr>
          <p:cNvPr id="2" name="标题 1">
            <a:extLst>
              <a:ext uri="{FF2B5EF4-FFF2-40B4-BE49-F238E27FC236}">
                <a16:creationId xmlns:a16="http://schemas.microsoft.com/office/drawing/2014/main" id="{48E4ED56-F070-47F0-988E-5FF03F9F3169}"/>
              </a:ext>
            </a:extLst>
          </p:cNvPr>
          <p:cNvSpPr>
            <a:spLocks noGrp="1"/>
          </p:cNvSpPr>
          <p:nvPr>
            <p:ph type="title"/>
          </p:nvPr>
        </p:nvSpPr>
        <p:spPr>
          <a:xfrm>
            <a:off x="164592" y="153324"/>
            <a:ext cx="9692640" cy="942960"/>
          </a:xfrm>
        </p:spPr>
        <p:txBody>
          <a:bodyPr/>
          <a:lstStyle/>
          <a:p>
            <a:r>
              <a:rPr lang="en-US" altLang="zh-CN" dirty="0"/>
              <a:t>2 TEST - BKG</a:t>
            </a:r>
            <a:endParaRPr lang="zh-CN" altLang="en-US" dirty="0"/>
          </a:p>
        </p:txBody>
      </p:sp>
      <p:pic>
        <p:nvPicPr>
          <p:cNvPr id="9" name="图片 8">
            <a:extLst>
              <a:ext uri="{FF2B5EF4-FFF2-40B4-BE49-F238E27FC236}">
                <a16:creationId xmlns:a16="http://schemas.microsoft.com/office/drawing/2014/main" id="{4DB77035-FFC9-4498-BF35-12F0E4711D43}"/>
              </a:ext>
            </a:extLst>
          </p:cNvPr>
          <p:cNvPicPr>
            <a:picLocks noChangeAspect="1"/>
          </p:cNvPicPr>
          <p:nvPr/>
        </p:nvPicPr>
        <p:blipFill rotWithShape="1">
          <a:blip r:embed="rId3">
            <a:extLst>
              <a:ext uri="{28A0092B-C50C-407E-A947-70E740481C1C}">
                <a14:useLocalDpi xmlns:a14="http://schemas.microsoft.com/office/drawing/2010/main" val="0"/>
              </a:ext>
            </a:extLst>
          </a:blip>
          <a:srcRect r="41962"/>
          <a:stretch/>
        </p:blipFill>
        <p:spPr>
          <a:xfrm>
            <a:off x="0" y="1361191"/>
            <a:ext cx="7076049" cy="4876800"/>
          </a:xfrm>
          <a:prstGeom prst="rect">
            <a:avLst/>
          </a:prstGeom>
        </p:spPr>
      </p:pic>
      <p:sp>
        <p:nvSpPr>
          <p:cNvPr id="13" name="文本框 12">
            <a:extLst>
              <a:ext uri="{FF2B5EF4-FFF2-40B4-BE49-F238E27FC236}">
                <a16:creationId xmlns:a16="http://schemas.microsoft.com/office/drawing/2014/main" id="{B137FCCD-2987-4A3D-A293-4EEA66EDDBCC}"/>
              </a:ext>
            </a:extLst>
          </p:cNvPr>
          <p:cNvSpPr txBox="1"/>
          <p:nvPr/>
        </p:nvSpPr>
        <p:spPr>
          <a:xfrm>
            <a:off x="1004935" y="6286667"/>
            <a:ext cx="5314404" cy="369332"/>
          </a:xfrm>
          <a:prstGeom prst="rect">
            <a:avLst/>
          </a:prstGeom>
          <a:noFill/>
        </p:spPr>
        <p:txBody>
          <a:bodyPr wrap="none" rtlCol="0">
            <a:spAutoFit/>
          </a:bodyPr>
          <a:lstStyle/>
          <a:p>
            <a:r>
              <a:rPr lang="en-US" altLang="zh-CN" dirty="0"/>
              <a:t>Reconstruction of SRCNN, tested on Fermi BKG dataset</a:t>
            </a:r>
            <a:endParaRPr lang="zh-CN" altLang="en-US" dirty="0"/>
          </a:p>
        </p:txBody>
      </p:sp>
      <p:sp>
        <p:nvSpPr>
          <p:cNvPr id="15" name="文本框 14">
            <a:extLst>
              <a:ext uri="{FF2B5EF4-FFF2-40B4-BE49-F238E27FC236}">
                <a16:creationId xmlns:a16="http://schemas.microsoft.com/office/drawing/2014/main" id="{7809D85A-4B17-4BCB-AE26-DE123BB09247}"/>
              </a:ext>
            </a:extLst>
          </p:cNvPr>
          <p:cNvSpPr txBox="1"/>
          <p:nvPr/>
        </p:nvSpPr>
        <p:spPr>
          <a:xfrm>
            <a:off x="7857422" y="6471333"/>
            <a:ext cx="3620709" cy="369332"/>
          </a:xfrm>
          <a:prstGeom prst="rect">
            <a:avLst/>
          </a:prstGeom>
          <a:noFill/>
        </p:spPr>
        <p:txBody>
          <a:bodyPr wrap="square">
            <a:spAutoFit/>
          </a:bodyPr>
          <a:lstStyle/>
          <a:p>
            <a:r>
              <a:rPr lang="en-US" altLang="zh-CN" dirty="0"/>
              <a:t>Residual map to original image</a:t>
            </a:r>
            <a:endParaRPr lang="zh-CN" altLang="en-US" dirty="0"/>
          </a:p>
        </p:txBody>
      </p:sp>
    </p:spTree>
    <p:extLst>
      <p:ext uri="{BB962C8B-B14F-4D97-AF65-F5344CB8AC3E}">
        <p14:creationId xmlns:p14="http://schemas.microsoft.com/office/powerpoint/2010/main" val="114119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4ED56-F070-47F0-988E-5FF03F9F3169}"/>
              </a:ext>
            </a:extLst>
          </p:cNvPr>
          <p:cNvSpPr>
            <a:spLocks noGrp="1"/>
          </p:cNvSpPr>
          <p:nvPr>
            <p:ph type="title"/>
          </p:nvPr>
        </p:nvSpPr>
        <p:spPr>
          <a:xfrm>
            <a:off x="164592" y="153324"/>
            <a:ext cx="9692640" cy="1325562"/>
          </a:xfrm>
        </p:spPr>
        <p:txBody>
          <a:bodyPr/>
          <a:lstStyle/>
          <a:p>
            <a:r>
              <a:rPr lang="en-US" altLang="zh-CN" dirty="0"/>
              <a:t>2 TEST - SRC</a:t>
            </a:r>
            <a:endParaRPr lang="zh-CN" altLang="en-US" dirty="0"/>
          </a:p>
        </p:txBody>
      </p:sp>
      <p:sp>
        <p:nvSpPr>
          <p:cNvPr id="13" name="文本框 12">
            <a:extLst>
              <a:ext uri="{FF2B5EF4-FFF2-40B4-BE49-F238E27FC236}">
                <a16:creationId xmlns:a16="http://schemas.microsoft.com/office/drawing/2014/main" id="{B137FCCD-2987-4A3D-A293-4EEA66EDDBCC}"/>
              </a:ext>
            </a:extLst>
          </p:cNvPr>
          <p:cNvSpPr txBox="1"/>
          <p:nvPr/>
        </p:nvSpPr>
        <p:spPr>
          <a:xfrm>
            <a:off x="1004935" y="6286667"/>
            <a:ext cx="5592493" cy="369332"/>
          </a:xfrm>
          <a:prstGeom prst="rect">
            <a:avLst/>
          </a:prstGeom>
          <a:noFill/>
        </p:spPr>
        <p:txBody>
          <a:bodyPr wrap="none" rtlCol="0">
            <a:spAutoFit/>
          </a:bodyPr>
          <a:lstStyle/>
          <a:p>
            <a:r>
              <a:rPr lang="en-US" altLang="zh-CN" dirty="0"/>
              <a:t>Reconstruction of SRCNN, tested on Gaussian SRC dataset</a:t>
            </a:r>
            <a:endParaRPr lang="zh-CN" altLang="en-US" dirty="0"/>
          </a:p>
        </p:txBody>
      </p:sp>
      <p:sp>
        <p:nvSpPr>
          <p:cNvPr id="15" name="文本框 14">
            <a:extLst>
              <a:ext uri="{FF2B5EF4-FFF2-40B4-BE49-F238E27FC236}">
                <a16:creationId xmlns:a16="http://schemas.microsoft.com/office/drawing/2014/main" id="{7809D85A-4B17-4BCB-AE26-DE123BB09247}"/>
              </a:ext>
            </a:extLst>
          </p:cNvPr>
          <p:cNvSpPr txBox="1"/>
          <p:nvPr/>
        </p:nvSpPr>
        <p:spPr>
          <a:xfrm>
            <a:off x="7896314" y="6471333"/>
            <a:ext cx="3637801" cy="369332"/>
          </a:xfrm>
          <a:prstGeom prst="rect">
            <a:avLst/>
          </a:prstGeom>
          <a:noFill/>
        </p:spPr>
        <p:txBody>
          <a:bodyPr wrap="square">
            <a:spAutoFit/>
          </a:bodyPr>
          <a:lstStyle/>
          <a:p>
            <a:r>
              <a:rPr lang="en-US" altLang="zh-CN" dirty="0"/>
              <a:t>Residual map to original map</a:t>
            </a:r>
            <a:endParaRPr lang="zh-CN" altLang="en-US" dirty="0"/>
          </a:p>
        </p:txBody>
      </p:sp>
      <p:pic>
        <p:nvPicPr>
          <p:cNvPr id="4" name="图片 3">
            <a:extLst>
              <a:ext uri="{FF2B5EF4-FFF2-40B4-BE49-F238E27FC236}">
                <a16:creationId xmlns:a16="http://schemas.microsoft.com/office/drawing/2014/main" id="{9BA025C7-84CE-4F87-921E-059503EE2DFC}"/>
              </a:ext>
            </a:extLst>
          </p:cNvPr>
          <p:cNvPicPr>
            <a:picLocks noChangeAspect="1"/>
          </p:cNvPicPr>
          <p:nvPr/>
        </p:nvPicPr>
        <p:blipFill rotWithShape="1">
          <a:blip r:embed="rId3">
            <a:extLst>
              <a:ext uri="{28A0092B-C50C-407E-A947-70E740481C1C}">
                <a14:useLocalDpi xmlns:a14="http://schemas.microsoft.com/office/drawing/2010/main" val="0"/>
              </a:ext>
            </a:extLst>
          </a:blip>
          <a:srcRect r="42971"/>
          <a:stretch/>
        </p:blipFill>
        <p:spPr>
          <a:xfrm>
            <a:off x="164592" y="1486418"/>
            <a:ext cx="6953061" cy="4876800"/>
          </a:xfrm>
          <a:prstGeom prst="rect">
            <a:avLst/>
          </a:prstGeom>
        </p:spPr>
      </p:pic>
      <p:pic>
        <p:nvPicPr>
          <p:cNvPr id="6" name="图片 5">
            <a:extLst>
              <a:ext uri="{FF2B5EF4-FFF2-40B4-BE49-F238E27FC236}">
                <a16:creationId xmlns:a16="http://schemas.microsoft.com/office/drawing/2014/main" id="{AC0CF894-49CE-4E1D-8D90-A19A8447C0CC}"/>
              </a:ext>
            </a:extLst>
          </p:cNvPr>
          <p:cNvPicPr>
            <a:picLocks noChangeAspect="1"/>
          </p:cNvPicPr>
          <p:nvPr/>
        </p:nvPicPr>
        <p:blipFill rotWithShape="1">
          <a:blip r:embed="rId3">
            <a:extLst>
              <a:ext uri="{28A0092B-C50C-407E-A947-70E740481C1C}">
                <a14:useLocalDpi xmlns:a14="http://schemas.microsoft.com/office/drawing/2010/main" val="0"/>
              </a:ext>
            </a:extLst>
          </a:blip>
          <a:srcRect l="60223" t="3821" b="7441"/>
          <a:stretch/>
        </p:blipFill>
        <p:spPr>
          <a:xfrm>
            <a:off x="7007383" y="1478886"/>
            <a:ext cx="5314808" cy="4742648"/>
          </a:xfrm>
          <a:prstGeom prst="rect">
            <a:avLst/>
          </a:prstGeom>
        </p:spPr>
      </p:pic>
    </p:spTree>
    <p:extLst>
      <p:ext uri="{BB962C8B-B14F-4D97-AF65-F5344CB8AC3E}">
        <p14:creationId xmlns:p14="http://schemas.microsoft.com/office/powerpoint/2010/main" val="1322441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4ED56-F070-47F0-988E-5FF03F9F3169}"/>
              </a:ext>
            </a:extLst>
          </p:cNvPr>
          <p:cNvSpPr>
            <a:spLocks noGrp="1"/>
          </p:cNvSpPr>
          <p:nvPr>
            <p:ph type="title"/>
          </p:nvPr>
        </p:nvSpPr>
        <p:spPr>
          <a:xfrm>
            <a:off x="164592" y="153324"/>
            <a:ext cx="9692640" cy="942960"/>
          </a:xfrm>
        </p:spPr>
        <p:txBody>
          <a:bodyPr/>
          <a:lstStyle/>
          <a:p>
            <a:r>
              <a:rPr lang="en-US" altLang="zh-CN" dirty="0"/>
              <a:t>2 TEST</a:t>
            </a:r>
            <a:endParaRPr lang="zh-CN" altLang="en-US" dirty="0"/>
          </a:p>
        </p:txBody>
      </p:sp>
      <p:grpSp>
        <p:nvGrpSpPr>
          <p:cNvPr id="17" name="Group 16">
            <a:extLst>
              <a:ext uri="{FF2B5EF4-FFF2-40B4-BE49-F238E27FC236}">
                <a16:creationId xmlns:a16="http://schemas.microsoft.com/office/drawing/2014/main" id="{BCDCFFD7-B9D1-4718-92AF-29E50D001B27}"/>
              </a:ext>
            </a:extLst>
          </p:cNvPr>
          <p:cNvGrpSpPr/>
          <p:nvPr/>
        </p:nvGrpSpPr>
        <p:grpSpPr>
          <a:xfrm>
            <a:off x="164592" y="1096284"/>
            <a:ext cx="11215725" cy="4323080"/>
            <a:chOff x="16199154" y="29626411"/>
            <a:chExt cx="12337250" cy="4755371"/>
          </a:xfrm>
        </p:grpSpPr>
        <p:sp>
          <p:nvSpPr>
            <p:cNvPr id="18" name="object 45">
              <a:extLst>
                <a:ext uri="{FF2B5EF4-FFF2-40B4-BE49-F238E27FC236}">
                  <a16:creationId xmlns:a16="http://schemas.microsoft.com/office/drawing/2014/main" id="{A09DF472-ACE0-465C-A2ED-2312BD6DC463}"/>
                </a:ext>
              </a:extLst>
            </p:cNvPr>
            <p:cNvSpPr/>
            <p:nvPr/>
          </p:nvSpPr>
          <p:spPr>
            <a:xfrm>
              <a:off x="16653452" y="30402923"/>
              <a:ext cx="193333" cy="3686856"/>
            </a:xfrm>
            <a:custGeom>
              <a:avLst/>
              <a:gdLst/>
              <a:ahLst/>
              <a:cxnLst/>
              <a:rect l="l" t="t" r="r" b="b"/>
              <a:pathLst>
                <a:path w="90804" h="1731644">
                  <a:moveTo>
                    <a:pt x="90213" y="1731087"/>
                  </a:moveTo>
                  <a:lnTo>
                    <a:pt x="72663" y="1730500"/>
                  </a:lnTo>
                  <a:lnTo>
                    <a:pt x="58325" y="1728897"/>
                  </a:lnTo>
                  <a:lnTo>
                    <a:pt x="48654" y="1726509"/>
                  </a:lnTo>
                  <a:lnTo>
                    <a:pt x="45106" y="1723569"/>
                  </a:lnTo>
                  <a:lnTo>
                    <a:pt x="45106" y="873061"/>
                  </a:lnTo>
                  <a:lnTo>
                    <a:pt x="41559" y="870121"/>
                  </a:lnTo>
                  <a:lnTo>
                    <a:pt x="31888" y="867733"/>
                  </a:lnTo>
                  <a:lnTo>
                    <a:pt x="17550" y="866129"/>
                  </a:lnTo>
                  <a:lnTo>
                    <a:pt x="0" y="865543"/>
                  </a:lnTo>
                  <a:lnTo>
                    <a:pt x="17550" y="864957"/>
                  </a:lnTo>
                  <a:lnTo>
                    <a:pt x="31888" y="863353"/>
                  </a:lnTo>
                  <a:lnTo>
                    <a:pt x="41559" y="860965"/>
                  </a:lnTo>
                  <a:lnTo>
                    <a:pt x="45106" y="858025"/>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5795"/>
            </a:p>
          </p:txBody>
        </p:sp>
        <p:sp>
          <p:nvSpPr>
            <p:cNvPr id="19" name="object 55">
              <a:extLst>
                <a:ext uri="{FF2B5EF4-FFF2-40B4-BE49-F238E27FC236}">
                  <a16:creationId xmlns:a16="http://schemas.microsoft.com/office/drawing/2014/main" id="{64B0025D-4604-4765-AE41-45D02FD996BB}"/>
                </a:ext>
              </a:extLst>
            </p:cNvPr>
            <p:cNvSpPr txBox="1"/>
            <p:nvPr/>
          </p:nvSpPr>
          <p:spPr>
            <a:xfrm>
              <a:off x="16199154" y="30554207"/>
              <a:ext cx="283732" cy="2728083"/>
            </a:xfrm>
            <a:prstGeom prst="rect">
              <a:avLst/>
            </a:prstGeom>
          </p:spPr>
          <p:txBody>
            <a:bodyPr vert="vert270" wrap="square" lIns="0" tIns="0" rIns="0" bIns="0" rtlCol="0">
              <a:spAutoFit/>
            </a:bodyPr>
            <a:lstStyle/>
            <a:p>
              <a:pPr marL="27040">
                <a:lnSpc>
                  <a:spcPts val="2248"/>
                </a:lnSpc>
              </a:pPr>
              <a:r>
                <a:rPr lang="en-US" sz="2129" b="1" spc="-42" dirty="0">
                  <a:latin typeface="Calibri"/>
                  <a:cs typeface="Calibri"/>
                </a:rPr>
                <a:t>Probability Density</a:t>
              </a:r>
              <a:endParaRPr sz="2129" dirty="0">
                <a:latin typeface="Calibri"/>
                <a:cs typeface="Calibri"/>
              </a:endParaRPr>
            </a:p>
          </p:txBody>
        </p:sp>
        <p:pic>
          <p:nvPicPr>
            <p:cNvPr id="20" name="Picture 19">
              <a:extLst>
                <a:ext uri="{FF2B5EF4-FFF2-40B4-BE49-F238E27FC236}">
                  <a16:creationId xmlns:a16="http://schemas.microsoft.com/office/drawing/2014/main" id="{283373FD-363A-486A-970A-704E5E3893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10949" y="29881069"/>
              <a:ext cx="5986883" cy="4490162"/>
            </a:xfrm>
            <a:prstGeom prst="rect">
              <a:avLst/>
            </a:prstGeom>
          </p:spPr>
        </p:pic>
        <p:pic>
          <p:nvPicPr>
            <p:cNvPr id="21" name="Picture 20">
              <a:extLst>
                <a:ext uri="{FF2B5EF4-FFF2-40B4-BE49-F238E27FC236}">
                  <a16:creationId xmlns:a16="http://schemas.microsoft.com/office/drawing/2014/main" id="{0FE515DB-9E39-4775-8A7F-2C243BB4D0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549521" y="29891620"/>
              <a:ext cx="5986883" cy="4490162"/>
            </a:xfrm>
            <a:prstGeom prst="rect">
              <a:avLst/>
            </a:prstGeom>
          </p:spPr>
        </p:pic>
        <p:sp>
          <p:nvSpPr>
            <p:cNvPr id="22" name="object 40">
              <a:extLst>
                <a:ext uri="{FF2B5EF4-FFF2-40B4-BE49-F238E27FC236}">
                  <a16:creationId xmlns:a16="http://schemas.microsoft.com/office/drawing/2014/main" id="{BB904C20-DF61-4B54-9FB8-B04800EA9269}"/>
                </a:ext>
              </a:extLst>
            </p:cNvPr>
            <p:cNvSpPr txBox="1"/>
            <p:nvPr/>
          </p:nvSpPr>
          <p:spPr>
            <a:xfrm>
              <a:off x="20721177" y="29626411"/>
              <a:ext cx="4685861" cy="356321"/>
            </a:xfrm>
            <a:prstGeom prst="rect">
              <a:avLst/>
            </a:prstGeom>
          </p:spPr>
          <p:txBody>
            <a:bodyPr vert="horz" wrap="square" lIns="0" tIns="28390" rIns="0" bIns="0" rtlCol="0">
              <a:spAutoFit/>
            </a:bodyPr>
            <a:lstStyle/>
            <a:p>
              <a:pPr marL="27040">
                <a:spcBef>
                  <a:spcPts val="224"/>
                </a:spcBef>
              </a:pPr>
              <a:r>
                <a:rPr lang="en-US" sz="2129" b="1" i="1" spc="-11" dirty="0">
                  <a:solidFill>
                    <a:srgbClr val="921639"/>
                  </a:solidFill>
                  <a:latin typeface="Calibri"/>
                  <a:cs typeface="Calibri"/>
                </a:rPr>
                <a:t>Fig 2. Distribution of Loss Function</a:t>
              </a:r>
              <a:endParaRPr sz="2129" dirty="0">
                <a:latin typeface="Calibri"/>
                <a:cs typeface="Calibri"/>
              </a:endParaRPr>
            </a:p>
          </p:txBody>
        </p:sp>
      </p:grpSp>
      <p:sp>
        <p:nvSpPr>
          <p:cNvPr id="23" name="object 55">
            <a:extLst>
              <a:ext uri="{FF2B5EF4-FFF2-40B4-BE49-F238E27FC236}">
                <a16:creationId xmlns:a16="http://schemas.microsoft.com/office/drawing/2014/main" id="{242EFEE1-FC1A-4FF4-9F8B-44B899E3E1C2}"/>
              </a:ext>
            </a:extLst>
          </p:cNvPr>
          <p:cNvSpPr txBox="1"/>
          <p:nvPr/>
        </p:nvSpPr>
        <p:spPr>
          <a:xfrm rot="5400000">
            <a:off x="3704792" y="3624321"/>
            <a:ext cx="283732" cy="4095468"/>
          </a:xfrm>
          <a:prstGeom prst="rect">
            <a:avLst/>
          </a:prstGeom>
        </p:spPr>
        <p:txBody>
          <a:bodyPr vert="vert270" wrap="square" lIns="0" tIns="0" rIns="0" bIns="0" rtlCol="0">
            <a:spAutoFit/>
          </a:bodyPr>
          <a:lstStyle/>
          <a:p>
            <a:pPr marL="27040">
              <a:lnSpc>
                <a:spcPts val="2248"/>
              </a:lnSpc>
            </a:pPr>
            <a:r>
              <a:rPr lang="en-US" sz="2129" b="1" spc="-42" dirty="0">
                <a:latin typeface="Calibri"/>
                <a:cs typeface="Calibri"/>
              </a:rPr>
              <a:t>J-S Divergence on Source Data</a:t>
            </a:r>
            <a:r>
              <a:rPr lang="en-US" altLang="zh-CN" sz="2129" b="1" spc="-42" dirty="0">
                <a:latin typeface="Calibri"/>
                <a:cs typeface="Calibri"/>
              </a:rPr>
              <a:t>set</a:t>
            </a:r>
            <a:endParaRPr sz="2129" dirty="0">
              <a:latin typeface="Calibri"/>
              <a:cs typeface="Calibri"/>
            </a:endParaRPr>
          </a:p>
        </p:txBody>
      </p:sp>
      <p:sp>
        <p:nvSpPr>
          <p:cNvPr id="24" name="object 55">
            <a:extLst>
              <a:ext uri="{FF2B5EF4-FFF2-40B4-BE49-F238E27FC236}">
                <a16:creationId xmlns:a16="http://schemas.microsoft.com/office/drawing/2014/main" id="{320527BD-2D6A-443B-BF6E-C89CB80930E6}"/>
              </a:ext>
            </a:extLst>
          </p:cNvPr>
          <p:cNvSpPr txBox="1"/>
          <p:nvPr/>
        </p:nvSpPr>
        <p:spPr>
          <a:xfrm rot="5400000">
            <a:off x="8940957" y="3234146"/>
            <a:ext cx="283732" cy="4877953"/>
          </a:xfrm>
          <a:prstGeom prst="rect">
            <a:avLst/>
          </a:prstGeom>
        </p:spPr>
        <p:txBody>
          <a:bodyPr vert="vert270" wrap="square" lIns="0" tIns="0" rIns="0" bIns="0" rtlCol="0">
            <a:spAutoFit/>
          </a:bodyPr>
          <a:lstStyle/>
          <a:p>
            <a:pPr marL="27040">
              <a:lnSpc>
                <a:spcPts val="2248"/>
              </a:lnSpc>
            </a:pPr>
            <a:r>
              <a:rPr lang="en-US" sz="2129" b="1" spc="-42" dirty="0">
                <a:latin typeface="Calibri"/>
                <a:cs typeface="Calibri"/>
              </a:rPr>
              <a:t>J-S Divergence on Background Data</a:t>
            </a:r>
            <a:r>
              <a:rPr lang="en-US" altLang="zh-CN" sz="2129" b="1" spc="-42" dirty="0">
                <a:latin typeface="Calibri"/>
                <a:cs typeface="Calibri"/>
              </a:rPr>
              <a:t>set</a:t>
            </a:r>
            <a:endParaRPr sz="2129" dirty="0">
              <a:latin typeface="Calibri"/>
              <a:cs typeface="Calibri"/>
            </a:endParaRPr>
          </a:p>
        </p:txBody>
      </p:sp>
    </p:spTree>
    <p:extLst>
      <p:ext uri="{BB962C8B-B14F-4D97-AF65-F5344CB8AC3E}">
        <p14:creationId xmlns:p14="http://schemas.microsoft.com/office/powerpoint/2010/main" val="19467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D5A7212-93EC-4A30-BDCA-A0E12A151743}"/>
              </a:ext>
            </a:extLst>
          </p:cNvPr>
          <p:cNvGrpSpPr/>
          <p:nvPr/>
        </p:nvGrpSpPr>
        <p:grpSpPr>
          <a:xfrm>
            <a:off x="1803306" y="313048"/>
            <a:ext cx="7499004" cy="6231904"/>
            <a:chOff x="1199683" y="169529"/>
            <a:chExt cx="7499004" cy="6231904"/>
          </a:xfrm>
        </p:grpSpPr>
        <p:grpSp>
          <p:nvGrpSpPr>
            <p:cNvPr id="14" name="Group 13">
              <a:extLst>
                <a:ext uri="{FF2B5EF4-FFF2-40B4-BE49-F238E27FC236}">
                  <a16:creationId xmlns:a16="http://schemas.microsoft.com/office/drawing/2014/main" id="{7C307EEC-85C6-42BB-BAF4-4F9593EE05C6}"/>
                </a:ext>
              </a:extLst>
            </p:cNvPr>
            <p:cNvGrpSpPr/>
            <p:nvPr/>
          </p:nvGrpSpPr>
          <p:grpSpPr>
            <a:xfrm>
              <a:off x="1199683" y="169529"/>
              <a:ext cx="6946246" cy="5513482"/>
              <a:chOff x="17506122" y="28280461"/>
              <a:chExt cx="10346170" cy="7953332"/>
            </a:xfrm>
          </p:grpSpPr>
          <p:pic>
            <p:nvPicPr>
              <p:cNvPr id="16" name="Picture 15">
                <a:extLst>
                  <a:ext uri="{FF2B5EF4-FFF2-40B4-BE49-F238E27FC236}">
                    <a16:creationId xmlns:a16="http://schemas.microsoft.com/office/drawing/2014/main" id="{55735C73-3972-4DE1-BA26-88F9D43F08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0173"/>
              <a:stretch/>
            </p:blipFill>
            <p:spPr>
              <a:xfrm>
                <a:off x="17506122" y="28794463"/>
                <a:ext cx="10346170" cy="7142013"/>
              </a:xfrm>
              <a:prstGeom prst="rect">
                <a:avLst/>
              </a:prstGeom>
            </p:spPr>
          </p:pic>
          <p:sp>
            <p:nvSpPr>
              <p:cNvPr id="17" name="object 38">
                <a:extLst>
                  <a:ext uri="{FF2B5EF4-FFF2-40B4-BE49-F238E27FC236}">
                    <a16:creationId xmlns:a16="http://schemas.microsoft.com/office/drawing/2014/main" id="{770CEBEA-5D13-476E-9BC4-53AE74FF26D5}"/>
                  </a:ext>
                </a:extLst>
              </p:cNvPr>
              <p:cNvSpPr txBox="1"/>
              <p:nvPr/>
            </p:nvSpPr>
            <p:spPr>
              <a:xfrm>
                <a:off x="19147264" y="28280461"/>
                <a:ext cx="8328540" cy="514002"/>
              </a:xfrm>
              <a:prstGeom prst="rect">
                <a:avLst/>
              </a:prstGeom>
            </p:spPr>
            <p:txBody>
              <a:bodyPr vert="horz" wrap="square" lIns="0" tIns="28390" rIns="0" bIns="0" rtlCol="0">
                <a:spAutoFit/>
              </a:bodyPr>
              <a:lstStyle/>
              <a:p>
                <a:pPr marL="27040">
                  <a:spcBef>
                    <a:spcPts val="224"/>
                  </a:spcBef>
                </a:pPr>
                <a:r>
                  <a:rPr lang="en-US" sz="2129" b="1" i="1" spc="-11" dirty="0">
                    <a:solidFill>
                      <a:srgbClr val="921639"/>
                    </a:solidFill>
                    <a:latin typeface="Calibri"/>
                    <a:cs typeface="Calibri"/>
                  </a:rPr>
                  <a:t>Fig 3. Application to Real LHAASO Observation</a:t>
                </a:r>
                <a:endParaRPr sz="2129" dirty="0">
                  <a:latin typeface="Calibri"/>
                  <a:cs typeface="Calibri"/>
                </a:endParaRPr>
              </a:p>
            </p:txBody>
          </p:sp>
          <p:sp>
            <p:nvSpPr>
              <p:cNvPr id="18" name="object 46">
                <a:extLst>
                  <a:ext uri="{FF2B5EF4-FFF2-40B4-BE49-F238E27FC236}">
                    <a16:creationId xmlns:a16="http://schemas.microsoft.com/office/drawing/2014/main" id="{81FCF94C-3614-4978-BB1D-C940832B8554}"/>
                  </a:ext>
                </a:extLst>
              </p:cNvPr>
              <p:cNvSpPr/>
              <p:nvPr/>
            </p:nvSpPr>
            <p:spPr>
              <a:xfrm rot="16200000">
                <a:off x="18811986" y="35150692"/>
                <a:ext cx="222351" cy="194385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5795" dirty="0"/>
              </a:p>
            </p:txBody>
          </p:sp>
        </p:grpSp>
        <p:sp>
          <p:nvSpPr>
            <p:cNvPr id="19" name="object 56">
              <a:extLst>
                <a:ext uri="{FF2B5EF4-FFF2-40B4-BE49-F238E27FC236}">
                  <a16:creationId xmlns:a16="http://schemas.microsoft.com/office/drawing/2014/main" id="{4E03E5A5-32CD-4971-91F2-DF6D7588D04F}"/>
                </a:ext>
              </a:extLst>
            </p:cNvPr>
            <p:cNvSpPr txBox="1"/>
            <p:nvPr/>
          </p:nvSpPr>
          <p:spPr>
            <a:xfrm rot="5400000">
              <a:off x="2233030" y="5431480"/>
              <a:ext cx="534377" cy="1405530"/>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Counts Map</a:t>
              </a:r>
            </a:p>
            <a:p>
              <a:pPr marL="27040">
                <a:lnSpc>
                  <a:spcPts val="2248"/>
                </a:lnSpc>
              </a:pPr>
              <a:r>
                <a:rPr lang="en-US" sz="1200" b="1" dirty="0">
                  <a:latin typeface="Calibri"/>
                  <a:cs typeface="Calibri"/>
                </a:rPr>
                <a:t> (25-40 </a:t>
              </a:r>
              <a:r>
                <a:rPr lang="en-US" sz="1200" b="1" dirty="0" err="1">
                  <a:latin typeface="Calibri"/>
                  <a:cs typeface="Calibri"/>
                </a:rPr>
                <a:t>TeV</a:t>
              </a:r>
              <a:r>
                <a:rPr lang="en-US" sz="1200" b="1" dirty="0">
                  <a:latin typeface="Calibri"/>
                  <a:cs typeface="Calibri"/>
                </a:rPr>
                <a:t>)</a:t>
              </a:r>
              <a:endParaRPr sz="1200" dirty="0">
                <a:latin typeface="Calibri"/>
                <a:cs typeface="Calibri"/>
              </a:endParaRPr>
            </a:p>
          </p:txBody>
        </p:sp>
        <p:sp>
          <p:nvSpPr>
            <p:cNvPr id="20" name="object 56">
              <a:extLst>
                <a:ext uri="{FF2B5EF4-FFF2-40B4-BE49-F238E27FC236}">
                  <a16:creationId xmlns:a16="http://schemas.microsoft.com/office/drawing/2014/main" id="{3B2C4115-4333-462D-89B7-BC761A0D8EDE}"/>
                </a:ext>
              </a:extLst>
            </p:cNvPr>
            <p:cNvSpPr txBox="1"/>
            <p:nvPr/>
          </p:nvSpPr>
          <p:spPr>
            <a:xfrm rot="5400000">
              <a:off x="3942178" y="5431480"/>
              <a:ext cx="252249" cy="1405530"/>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TS Map</a:t>
              </a:r>
            </a:p>
          </p:txBody>
        </p:sp>
        <p:sp>
          <p:nvSpPr>
            <p:cNvPr id="21" name="object 46">
              <a:extLst>
                <a:ext uri="{FF2B5EF4-FFF2-40B4-BE49-F238E27FC236}">
                  <a16:creationId xmlns:a16="http://schemas.microsoft.com/office/drawing/2014/main" id="{05A311F1-8C1F-4A32-BA29-EED60F8F6A94}"/>
                </a:ext>
              </a:extLst>
            </p:cNvPr>
            <p:cNvSpPr/>
            <p:nvPr/>
          </p:nvSpPr>
          <p:spPr>
            <a:xfrm rot="16200000">
              <a:off x="3753936" y="4904854"/>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2" name="object 46">
              <a:extLst>
                <a:ext uri="{FF2B5EF4-FFF2-40B4-BE49-F238E27FC236}">
                  <a16:creationId xmlns:a16="http://schemas.microsoft.com/office/drawing/2014/main" id="{2EECD449-FAB4-4FA7-92F6-287013642E2D}"/>
                </a:ext>
              </a:extLst>
            </p:cNvPr>
            <p:cNvSpPr/>
            <p:nvPr/>
          </p:nvSpPr>
          <p:spPr>
            <a:xfrm rot="16200000">
              <a:off x="5441056" y="4899640"/>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3" name="object 56">
              <a:extLst>
                <a:ext uri="{FF2B5EF4-FFF2-40B4-BE49-F238E27FC236}">
                  <a16:creationId xmlns:a16="http://schemas.microsoft.com/office/drawing/2014/main" id="{BA1C9976-5975-430B-94EF-FC41BA7C3E8A}"/>
                </a:ext>
              </a:extLst>
            </p:cNvPr>
            <p:cNvSpPr txBox="1"/>
            <p:nvPr/>
          </p:nvSpPr>
          <p:spPr>
            <a:xfrm rot="5400000">
              <a:off x="5476989" y="4930116"/>
              <a:ext cx="252249" cy="2408258"/>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Reconstructed by SRCNN</a:t>
              </a:r>
            </a:p>
          </p:txBody>
        </p:sp>
        <p:sp>
          <p:nvSpPr>
            <p:cNvPr id="24" name="object 46">
              <a:extLst>
                <a:ext uri="{FF2B5EF4-FFF2-40B4-BE49-F238E27FC236}">
                  <a16:creationId xmlns:a16="http://schemas.microsoft.com/office/drawing/2014/main" id="{F236AD70-F4FA-478A-8AB2-EABCDF0A66D2}"/>
                </a:ext>
              </a:extLst>
            </p:cNvPr>
            <p:cNvSpPr/>
            <p:nvPr/>
          </p:nvSpPr>
          <p:spPr>
            <a:xfrm rot="16200000">
              <a:off x="7207292" y="4918533"/>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5" name="object 56">
              <a:extLst>
                <a:ext uri="{FF2B5EF4-FFF2-40B4-BE49-F238E27FC236}">
                  <a16:creationId xmlns:a16="http://schemas.microsoft.com/office/drawing/2014/main" id="{D9DA5314-624F-4DD6-9B18-D4955039958F}"/>
                </a:ext>
              </a:extLst>
            </p:cNvPr>
            <p:cNvSpPr txBox="1"/>
            <p:nvPr/>
          </p:nvSpPr>
          <p:spPr>
            <a:xfrm rot="5400000">
              <a:off x="7368433" y="4930116"/>
              <a:ext cx="252249" cy="2408258"/>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Data along dashed white line</a:t>
              </a:r>
            </a:p>
          </p:txBody>
        </p:sp>
      </p:grpSp>
      <p:sp>
        <p:nvSpPr>
          <p:cNvPr id="26" name="object 38">
            <a:extLst>
              <a:ext uri="{FF2B5EF4-FFF2-40B4-BE49-F238E27FC236}">
                <a16:creationId xmlns:a16="http://schemas.microsoft.com/office/drawing/2014/main" id="{9D2034FB-DC00-45DE-88D7-739154A672E8}"/>
              </a:ext>
            </a:extLst>
          </p:cNvPr>
          <p:cNvSpPr txBox="1"/>
          <p:nvPr/>
        </p:nvSpPr>
        <p:spPr>
          <a:xfrm>
            <a:off x="11523285" y="313048"/>
            <a:ext cx="430887" cy="2654270"/>
          </a:xfrm>
          <a:prstGeom prst="rect">
            <a:avLst/>
          </a:prstGeom>
        </p:spPr>
        <p:txBody>
          <a:bodyPr vert="eaVert" wrap="square" lIns="0" tIns="28390" rIns="0" bIns="0" rtlCol="0">
            <a:spAutoFit/>
          </a:bodyPr>
          <a:lstStyle/>
          <a:p>
            <a:pPr marL="27040">
              <a:spcBef>
                <a:spcPts val="224"/>
              </a:spcBef>
            </a:pPr>
            <a:r>
              <a:rPr lang="en-US" sz="2800" b="1" i="1" spc="-11" dirty="0">
                <a:solidFill>
                  <a:schemeClr val="bg1"/>
                </a:solidFill>
                <a:latin typeface="Calibri"/>
                <a:cs typeface="Calibri"/>
              </a:rPr>
              <a:t>3 FURTHER</a:t>
            </a:r>
            <a:endParaRPr sz="2800" dirty="0">
              <a:solidFill>
                <a:schemeClr val="bg1"/>
              </a:solidFill>
              <a:latin typeface="Calibri"/>
              <a:cs typeface="Calibri"/>
            </a:endParaRPr>
          </a:p>
        </p:txBody>
      </p:sp>
    </p:spTree>
    <p:extLst>
      <p:ext uri="{BB962C8B-B14F-4D97-AF65-F5344CB8AC3E}">
        <p14:creationId xmlns:p14="http://schemas.microsoft.com/office/powerpoint/2010/main" val="1152120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D5A7212-93EC-4A30-BDCA-A0E12A151743}"/>
              </a:ext>
            </a:extLst>
          </p:cNvPr>
          <p:cNvGrpSpPr/>
          <p:nvPr/>
        </p:nvGrpSpPr>
        <p:grpSpPr>
          <a:xfrm>
            <a:off x="1803306" y="313047"/>
            <a:ext cx="7499004" cy="6333738"/>
            <a:chOff x="1199683" y="169528"/>
            <a:chExt cx="7499004" cy="6333738"/>
          </a:xfrm>
        </p:grpSpPr>
        <p:grpSp>
          <p:nvGrpSpPr>
            <p:cNvPr id="14" name="Group 13">
              <a:extLst>
                <a:ext uri="{FF2B5EF4-FFF2-40B4-BE49-F238E27FC236}">
                  <a16:creationId xmlns:a16="http://schemas.microsoft.com/office/drawing/2014/main" id="{7C307EEC-85C6-42BB-BAF4-4F9593EE05C6}"/>
                </a:ext>
              </a:extLst>
            </p:cNvPr>
            <p:cNvGrpSpPr/>
            <p:nvPr/>
          </p:nvGrpSpPr>
          <p:grpSpPr>
            <a:xfrm>
              <a:off x="1199683" y="169528"/>
              <a:ext cx="6946246" cy="6333738"/>
              <a:chOff x="17506122" y="28280461"/>
              <a:chExt cx="10346170" cy="9136574"/>
            </a:xfrm>
          </p:grpSpPr>
          <p:pic>
            <p:nvPicPr>
              <p:cNvPr id="16" name="Picture 15">
                <a:extLst>
                  <a:ext uri="{FF2B5EF4-FFF2-40B4-BE49-F238E27FC236}">
                    <a16:creationId xmlns:a16="http://schemas.microsoft.com/office/drawing/2014/main" id="{55735C73-3972-4DE1-BA26-88F9D43F08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9907" b="-19734"/>
              <a:stretch/>
            </p:blipFill>
            <p:spPr>
              <a:xfrm>
                <a:off x="17506122" y="30275023"/>
                <a:ext cx="10346170" cy="7142012"/>
              </a:xfrm>
              <a:prstGeom prst="rect">
                <a:avLst/>
              </a:prstGeom>
            </p:spPr>
          </p:pic>
          <p:sp>
            <p:nvSpPr>
              <p:cNvPr id="17" name="object 38">
                <a:extLst>
                  <a:ext uri="{FF2B5EF4-FFF2-40B4-BE49-F238E27FC236}">
                    <a16:creationId xmlns:a16="http://schemas.microsoft.com/office/drawing/2014/main" id="{770CEBEA-5D13-476E-9BC4-53AE74FF26D5}"/>
                  </a:ext>
                </a:extLst>
              </p:cNvPr>
              <p:cNvSpPr txBox="1"/>
              <p:nvPr/>
            </p:nvSpPr>
            <p:spPr>
              <a:xfrm>
                <a:off x="19147264" y="28280461"/>
                <a:ext cx="8328540" cy="514002"/>
              </a:xfrm>
              <a:prstGeom prst="rect">
                <a:avLst/>
              </a:prstGeom>
            </p:spPr>
            <p:txBody>
              <a:bodyPr vert="horz" wrap="square" lIns="0" tIns="28390" rIns="0" bIns="0" rtlCol="0">
                <a:spAutoFit/>
              </a:bodyPr>
              <a:lstStyle/>
              <a:p>
                <a:pPr marL="27040">
                  <a:spcBef>
                    <a:spcPts val="224"/>
                  </a:spcBef>
                </a:pPr>
                <a:r>
                  <a:rPr lang="en-US" sz="2129" b="1" i="1" spc="-11" dirty="0">
                    <a:solidFill>
                      <a:srgbClr val="921639"/>
                    </a:solidFill>
                    <a:latin typeface="Calibri"/>
                    <a:cs typeface="Calibri"/>
                  </a:rPr>
                  <a:t>Fig 3. Application to Real LHAASO Observation</a:t>
                </a:r>
                <a:endParaRPr sz="2129" dirty="0">
                  <a:latin typeface="Calibri"/>
                  <a:cs typeface="Calibri"/>
                </a:endParaRPr>
              </a:p>
            </p:txBody>
          </p:sp>
          <p:sp>
            <p:nvSpPr>
              <p:cNvPr id="18" name="object 46">
                <a:extLst>
                  <a:ext uri="{FF2B5EF4-FFF2-40B4-BE49-F238E27FC236}">
                    <a16:creationId xmlns:a16="http://schemas.microsoft.com/office/drawing/2014/main" id="{81FCF94C-3614-4978-BB1D-C940832B8554}"/>
                  </a:ext>
                </a:extLst>
              </p:cNvPr>
              <p:cNvSpPr/>
              <p:nvPr/>
            </p:nvSpPr>
            <p:spPr>
              <a:xfrm rot="16200000">
                <a:off x="18811986" y="35150692"/>
                <a:ext cx="222351" cy="194385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5795" dirty="0"/>
              </a:p>
            </p:txBody>
          </p:sp>
        </p:grpSp>
        <p:sp>
          <p:nvSpPr>
            <p:cNvPr id="19" name="object 56">
              <a:extLst>
                <a:ext uri="{FF2B5EF4-FFF2-40B4-BE49-F238E27FC236}">
                  <a16:creationId xmlns:a16="http://schemas.microsoft.com/office/drawing/2014/main" id="{4E03E5A5-32CD-4971-91F2-DF6D7588D04F}"/>
                </a:ext>
              </a:extLst>
            </p:cNvPr>
            <p:cNvSpPr txBox="1"/>
            <p:nvPr/>
          </p:nvSpPr>
          <p:spPr>
            <a:xfrm rot="5400000">
              <a:off x="2233030" y="5431480"/>
              <a:ext cx="534377" cy="1405530"/>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Counts Map</a:t>
              </a:r>
            </a:p>
            <a:p>
              <a:pPr marL="27040">
                <a:lnSpc>
                  <a:spcPts val="2248"/>
                </a:lnSpc>
              </a:pPr>
              <a:r>
                <a:rPr lang="en-US" sz="1200" b="1" dirty="0">
                  <a:latin typeface="Calibri"/>
                  <a:cs typeface="Calibri"/>
                </a:rPr>
                <a:t> (25-40 </a:t>
              </a:r>
              <a:r>
                <a:rPr lang="en-US" sz="1200" b="1" dirty="0" err="1">
                  <a:latin typeface="Calibri"/>
                  <a:cs typeface="Calibri"/>
                </a:rPr>
                <a:t>TeV</a:t>
              </a:r>
              <a:r>
                <a:rPr lang="en-US" sz="1200" b="1" dirty="0">
                  <a:latin typeface="Calibri"/>
                  <a:cs typeface="Calibri"/>
                </a:rPr>
                <a:t>)</a:t>
              </a:r>
              <a:endParaRPr sz="1200" dirty="0">
                <a:latin typeface="Calibri"/>
                <a:cs typeface="Calibri"/>
              </a:endParaRPr>
            </a:p>
          </p:txBody>
        </p:sp>
        <p:sp>
          <p:nvSpPr>
            <p:cNvPr id="20" name="object 56">
              <a:extLst>
                <a:ext uri="{FF2B5EF4-FFF2-40B4-BE49-F238E27FC236}">
                  <a16:creationId xmlns:a16="http://schemas.microsoft.com/office/drawing/2014/main" id="{3B2C4115-4333-462D-89B7-BC761A0D8EDE}"/>
                </a:ext>
              </a:extLst>
            </p:cNvPr>
            <p:cNvSpPr txBox="1"/>
            <p:nvPr/>
          </p:nvSpPr>
          <p:spPr>
            <a:xfrm rot="5400000">
              <a:off x="3942178" y="5431480"/>
              <a:ext cx="252249" cy="1405530"/>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TS Map</a:t>
              </a:r>
            </a:p>
          </p:txBody>
        </p:sp>
        <p:sp>
          <p:nvSpPr>
            <p:cNvPr id="21" name="object 46">
              <a:extLst>
                <a:ext uri="{FF2B5EF4-FFF2-40B4-BE49-F238E27FC236}">
                  <a16:creationId xmlns:a16="http://schemas.microsoft.com/office/drawing/2014/main" id="{05A311F1-8C1F-4A32-BA29-EED60F8F6A94}"/>
                </a:ext>
              </a:extLst>
            </p:cNvPr>
            <p:cNvSpPr/>
            <p:nvPr/>
          </p:nvSpPr>
          <p:spPr>
            <a:xfrm rot="16200000">
              <a:off x="3753936" y="4904854"/>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2" name="object 46">
              <a:extLst>
                <a:ext uri="{FF2B5EF4-FFF2-40B4-BE49-F238E27FC236}">
                  <a16:creationId xmlns:a16="http://schemas.microsoft.com/office/drawing/2014/main" id="{2EECD449-FAB4-4FA7-92F6-287013642E2D}"/>
                </a:ext>
              </a:extLst>
            </p:cNvPr>
            <p:cNvSpPr/>
            <p:nvPr/>
          </p:nvSpPr>
          <p:spPr>
            <a:xfrm rot="16200000">
              <a:off x="5441056" y="4899640"/>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3" name="object 56">
              <a:extLst>
                <a:ext uri="{FF2B5EF4-FFF2-40B4-BE49-F238E27FC236}">
                  <a16:creationId xmlns:a16="http://schemas.microsoft.com/office/drawing/2014/main" id="{BA1C9976-5975-430B-94EF-FC41BA7C3E8A}"/>
                </a:ext>
              </a:extLst>
            </p:cNvPr>
            <p:cNvSpPr txBox="1"/>
            <p:nvPr/>
          </p:nvSpPr>
          <p:spPr>
            <a:xfrm rot="5400000">
              <a:off x="5476989" y="4930116"/>
              <a:ext cx="252249" cy="2408258"/>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Reconstructed by SRCNN</a:t>
              </a:r>
            </a:p>
          </p:txBody>
        </p:sp>
        <p:sp>
          <p:nvSpPr>
            <p:cNvPr id="24" name="object 46">
              <a:extLst>
                <a:ext uri="{FF2B5EF4-FFF2-40B4-BE49-F238E27FC236}">
                  <a16:creationId xmlns:a16="http://schemas.microsoft.com/office/drawing/2014/main" id="{F236AD70-F4FA-478A-8AB2-EABCDF0A66D2}"/>
                </a:ext>
              </a:extLst>
            </p:cNvPr>
            <p:cNvSpPr/>
            <p:nvPr/>
          </p:nvSpPr>
          <p:spPr>
            <a:xfrm rot="16200000">
              <a:off x="7207292" y="4918533"/>
              <a:ext cx="174620" cy="1400312"/>
            </a:xfrm>
            <a:custGeom>
              <a:avLst/>
              <a:gdLst/>
              <a:ahLst/>
              <a:cxnLst/>
              <a:rect l="l" t="t" r="r" b="b"/>
              <a:pathLst>
                <a:path w="90804" h="1732280">
                  <a:moveTo>
                    <a:pt x="90213" y="1731938"/>
                  </a:moveTo>
                  <a:lnTo>
                    <a:pt x="72663" y="1731352"/>
                  </a:lnTo>
                  <a:lnTo>
                    <a:pt x="58325" y="1729748"/>
                  </a:lnTo>
                  <a:lnTo>
                    <a:pt x="48654" y="1727360"/>
                  </a:lnTo>
                  <a:lnTo>
                    <a:pt x="45106" y="1724420"/>
                  </a:lnTo>
                  <a:lnTo>
                    <a:pt x="45106" y="873486"/>
                  </a:lnTo>
                  <a:lnTo>
                    <a:pt x="41559" y="870546"/>
                  </a:lnTo>
                  <a:lnTo>
                    <a:pt x="31888" y="868158"/>
                  </a:lnTo>
                  <a:lnTo>
                    <a:pt x="17550" y="866555"/>
                  </a:lnTo>
                  <a:lnTo>
                    <a:pt x="0" y="865969"/>
                  </a:lnTo>
                  <a:lnTo>
                    <a:pt x="17550" y="865382"/>
                  </a:lnTo>
                  <a:lnTo>
                    <a:pt x="31888" y="863779"/>
                  </a:lnTo>
                  <a:lnTo>
                    <a:pt x="41559" y="861391"/>
                  </a:lnTo>
                  <a:lnTo>
                    <a:pt x="45106" y="858451"/>
                  </a:lnTo>
                  <a:lnTo>
                    <a:pt x="45106" y="7517"/>
                  </a:lnTo>
                  <a:lnTo>
                    <a:pt x="48654" y="4577"/>
                  </a:lnTo>
                  <a:lnTo>
                    <a:pt x="58325" y="2189"/>
                  </a:lnTo>
                  <a:lnTo>
                    <a:pt x="72663" y="586"/>
                  </a:lnTo>
                  <a:lnTo>
                    <a:pt x="90213" y="0"/>
                  </a:lnTo>
                </a:path>
              </a:pathLst>
            </a:custGeom>
            <a:ln w="3546">
              <a:solidFill>
                <a:srgbClr val="4471C4"/>
              </a:solidFill>
            </a:ln>
          </p:spPr>
          <p:txBody>
            <a:bodyPr wrap="square" lIns="0" tIns="0" rIns="0" bIns="0" rtlCol="0"/>
            <a:lstStyle/>
            <a:p>
              <a:endParaRPr sz="3600" dirty="0"/>
            </a:p>
          </p:txBody>
        </p:sp>
        <p:sp>
          <p:nvSpPr>
            <p:cNvPr id="25" name="object 56">
              <a:extLst>
                <a:ext uri="{FF2B5EF4-FFF2-40B4-BE49-F238E27FC236}">
                  <a16:creationId xmlns:a16="http://schemas.microsoft.com/office/drawing/2014/main" id="{D9DA5314-624F-4DD6-9B18-D4955039958F}"/>
                </a:ext>
              </a:extLst>
            </p:cNvPr>
            <p:cNvSpPr txBox="1"/>
            <p:nvPr/>
          </p:nvSpPr>
          <p:spPr>
            <a:xfrm rot="5400000">
              <a:off x="7368433" y="4930116"/>
              <a:ext cx="252249" cy="2408258"/>
            </a:xfrm>
            <a:prstGeom prst="rect">
              <a:avLst/>
            </a:prstGeom>
          </p:spPr>
          <p:txBody>
            <a:bodyPr vert="vert270" wrap="square" lIns="0" tIns="0" rIns="0" bIns="0" rtlCol="0">
              <a:spAutoFit/>
            </a:bodyPr>
            <a:lstStyle/>
            <a:p>
              <a:pPr marL="27040">
                <a:lnSpc>
                  <a:spcPts val="2248"/>
                </a:lnSpc>
              </a:pPr>
              <a:r>
                <a:rPr lang="en-US" sz="1200" b="1" dirty="0">
                  <a:latin typeface="Calibri"/>
                  <a:cs typeface="Calibri"/>
                </a:rPr>
                <a:t>    Data along dashed white line</a:t>
              </a:r>
            </a:p>
          </p:txBody>
        </p:sp>
      </p:grpSp>
      <p:sp>
        <p:nvSpPr>
          <p:cNvPr id="26" name="object 38">
            <a:extLst>
              <a:ext uri="{FF2B5EF4-FFF2-40B4-BE49-F238E27FC236}">
                <a16:creationId xmlns:a16="http://schemas.microsoft.com/office/drawing/2014/main" id="{9D2034FB-DC00-45DE-88D7-739154A672E8}"/>
              </a:ext>
            </a:extLst>
          </p:cNvPr>
          <p:cNvSpPr txBox="1"/>
          <p:nvPr/>
        </p:nvSpPr>
        <p:spPr>
          <a:xfrm>
            <a:off x="11523285" y="313048"/>
            <a:ext cx="430887" cy="2654270"/>
          </a:xfrm>
          <a:prstGeom prst="rect">
            <a:avLst/>
          </a:prstGeom>
        </p:spPr>
        <p:txBody>
          <a:bodyPr vert="eaVert" wrap="square" lIns="0" tIns="28390" rIns="0" bIns="0" rtlCol="0">
            <a:spAutoFit/>
          </a:bodyPr>
          <a:lstStyle/>
          <a:p>
            <a:pPr marL="27040">
              <a:spcBef>
                <a:spcPts val="224"/>
              </a:spcBef>
            </a:pPr>
            <a:r>
              <a:rPr lang="en-US" sz="2800" b="1" i="1" spc="-11" dirty="0">
                <a:solidFill>
                  <a:schemeClr val="bg1"/>
                </a:solidFill>
                <a:latin typeface="Calibri"/>
                <a:cs typeface="Calibri"/>
              </a:rPr>
              <a:t>3 FURTHER</a:t>
            </a:r>
            <a:endParaRPr sz="2800" dirty="0">
              <a:solidFill>
                <a:schemeClr val="bg1"/>
              </a:solidFill>
              <a:latin typeface="Calibri"/>
              <a:cs typeface="Calibri"/>
            </a:endParaRPr>
          </a:p>
        </p:txBody>
      </p:sp>
    </p:spTree>
    <p:extLst>
      <p:ext uri="{BB962C8B-B14F-4D97-AF65-F5344CB8AC3E}">
        <p14:creationId xmlns:p14="http://schemas.microsoft.com/office/powerpoint/2010/main" val="1727205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9652D-D39E-4790-B332-BF9D1C961EDF}"/>
              </a:ext>
            </a:extLst>
          </p:cNvPr>
          <p:cNvSpPr>
            <a:spLocks noGrp="1"/>
          </p:cNvSpPr>
          <p:nvPr>
            <p:ph type="title"/>
          </p:nvPr>
        </p:nvSpPr>
        <p:spPr>
          <a:xfrm>
            <a:off x="164592" y="85102"/>
            <a:ext cx="9692640" cy="1325562"/>
          </a:xfrm>
        </p:spPr>
        <p:txBody>
          <a:bodyPr/>
          <a:lstStyle/>
          <a:p>
            <a:r>
              <a:rPr lang="en-US" altLang="zh-CN" dirty="0"/>
              <a:t>PSF of LHAASO</a:t>
            </a:r>
            <a:endParaRPr lang="zh-CN" altLang="en-US" dirty="0"/>
          </a:p>
        </p:txBody>
      </p:sp>
      <p:pic>
        <p:nvPicPr>
          <p:cNvPr id="5" name="内容占位符 4">
            <a:extLst>
              <a:ext uri="{FF2B5EF4-FFF2-40B4-BE49-F238E27FC236}">
                <a16:creationId xmlns:a16="http://schemas.microsoft.com/office/drawing/2014/main" id="{37530E13-C7CD-462B-9E56-C89D5492BF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592" y="1483092"/>
            <a:ext cx="5852172" cy="4389129"/>
          </a:xfr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632C564C-5F1D-42E7-8048-8BBE2A0DBC2F}"/>
                  </a:ext>
                </a:extLst>
              </p:cNvPr>
              <p:cNvSpPr txBox="1"/>
              <p:nvPr/>
            </p:nvSpPr>
            <p:spPr>
              <a:xfrm>
                <a:off x="5767057" y="440065"/>
                <a:ext cx="5658921" cy="6956071"/>
              </a:xfrm>
              <a:prstGeom prst="rect">
                <a:avLst/>
              </a:prstGeom>
              <a:noFill/>
            </p:spPr>
            <p:txBody>
              <a:bodyPr wrap="none" rtlCol="0">
                <a:spAutoFit/>
              </a:bodyPr>
              <a:lstStyle/>
              <a:p>
                <a:r>
                  <a:rPr lang="en-US" altLang="zh-CN" sz="2800" b="1" dirty="0">
                    <a:solidFill>
                      <a:srgbClr val="FF0000"/>
                    </a:solidFill>
                  </a:rPr>
                  <a:t>How To Enhance Resolution?</a:t>
                </a:r>
              </a:p>
              <a:p>
                <a:endParaRPr lang="en-US" altLang="zh-CN" sz="2800" dirty="0">
                  <a:solidFill>
                    <a:srgbClr val="FF0000"/>
                  </a:solidFill>
                </a:endParaRPr>
              </a:p>
              <a:p>
                <a:r>
                  <a:rPr lang="en-US" altLang="zh-CN" sz="2400" dirty="0">
                    <a:solidFill>
                      <a:srgbClr val="0070C0"/>
                    </a:solidFill>
                  </a:rPr>
                  <a:t>-- Denser detector configuration</a:t>
                </a:r>
              </a:p>
              <a:p>
                <a14:m>
                  <m:oMath xmlns:m="http://schemas.openxmlformats.org/officeDocument/2006/math">
                    <m:r>
                      <a:rPr lang="en-US" altLang="zh-CN" sz="2400" b="0" i="1" smtClean="0">
                        <a:latin typeface="Cambria Math" panose="02040503050406030204" pitchFamily="18" charset="0"/>
                      </a:rPr>
                      <m:t>𝑑</m:t>
                    </m:r>
                    <m:r>
                      <a:rPr lang="en-US" altLang="zh-CN" sz="2400" b="0" i="1" smtClean="0">
                        <a:latin typeface="Cambria Math" panose="02040503050406030204" pitchFamily="18" charset="0"/>
                      </a:rPr>
                      <m:t>:</m:t>
                    </m:r>
                  </m:oMath>
                </a14:m>
                <a:r>
                  <a:rPr lang="en-US" altLang="zh-CN" sz="2400" dirty="0"/>
                  <a:t> distance between detectors</a:t>
                </a:r>
              </a:p>
              <a:p>
                <a:endParaRPr lang="en-US" altLang="zh-CN" sz="2400" dirty="0"/>
              </a:p>
              <a:p>
                <a:r>
                  <a:rPr lang="en-US" altLang="zh-CN" sz="2400" dirty="0"/>
                  <a:t>Cost:  </a:t>
                </a:r>
                <a14:m>
                  <m:oMath xmlns:m="http://schemas.openxmlformats.org/officeDocument/2006/math">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𝑑</m:t>
                        </m:r>
                      </m:e>
                      <m:sup>
                        <m:r>
                          <a:rPr lang="en-US" altLang="zh-CN" sz="2400" b="0" i="1" smtClean="0">
                            <a:latin typeface="Cambria Math" panose="02040503050406030204" pitchFamily="18" charset="0"/>
                          </a:rPr>
                          <m:t>−2</m:t>
                        </m:r>
                      </m:sup>
                    </m:sSup>
                  </m:oMath>
                </a14:m>
                <a:endParaRPr lang="en-US" altLang="zh-CN" sz="2400" dirty="0"/>
              </a:p>
              <a:p>
                <a:r>
                  <a:rPr lang="en-US" altLang="zh-CN" sz="2400" dirty="0"/>
                  <a:t>Resolution: </a:t>
                </a:r>
                <a14:m>
                  <m:oMath xmlns:m="http://schemas.openxmlformats.org/officeDocument/2006/math">
                    <m:r>
                      <m:rPr>
                        <m:sty m:val="p"/>
                      </m:rPr>
                      <a:rPr lang="en-US" altLang="zh-CN" sz="2400" b="0" i="0" smtClean="0">
                        <a:latin typeface="Cambria Math" panose="02040503050406030204" pitchFamily="18" charset="0"/>
                      </a:rPr>
                      <m:t>R</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m:rPr>
                            <m:sty m:val="p"/>
                          </m:rPr>
                          <a:rPr lang="en-US" altLang="zh-CN" sz="2400" b="0" i="1" smtClean="0">
                            <a:latin typeface="Cambria Math" panose="02040503050406030204" pitchFamily="18" charset="0"/>
                          </a:rPr>
                          <m:t>θ</m:t>
                        </m:r>
                      </m:den>
                    </m:f>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𝑑</m:t>
                        </m:r>
                      </m:e>
                      <m:sup>
                        <m:r>
                          <a:rPr lang="en-US" altLang="zh-CN" sz="2400" b="0" i="1" smtClean="0">
                            <a:latin typeface="Cambria Math" panose="02040503050406030204" pitchFamily="18" charset="0"/>
                          </a:rPr>
                          <m:t>−1</m:t>
                        </m:r>
                      </m:sup>
                    </m:sSup>
                  </m:oMath>
                </a14:m>
                <a:endParaRPr lang="en-US" altLang="zh-CN" sz="2400" b="0" dirty="0"/>
              </a:p>
              <a:p>
                <a:endParaRPr lang="en-US" altLang="zh-CN" sz="2400" dirty="0"/>
              </a:p>
              <a:p>
                <a14:m>
                  <m:oMath xmlns:m="http://schemas.openxmlformats.org/officeDocument/2006/math">
                    <m:r>
                      <a:rPr lang="en-US" altLang="zh-CN" sz="2400" b="0" i="1" smtClean="0">
                        <a:solidFill>
                          <a:srgbClr val="002060"/>
                        </a:solidFill>
                        <a:latin typeface="Cambria Math" panose="02040503050406030204" pitchFamily="18" charset="0"/>
                      </a:rPr>
                      <m:t>𝐶</m:t>
                    </m:r>
                    <m:r>
                      <a:rPr lang="en-US" altLang="zh-CN" sz="2400" b="0" i="1" smtClean="0">
                        <a:solidFill>
                          <a:srgbClr val="002060"/>
                        </a:solidFill>
                        <a:latin typeface="Cambria Math" panose="02040503050406030204" pitchFamily="18" charset="0"/>
                      </a:rPr>
                      <m:t>∝</m:t>
                    </m:r>
                    <m:sSup>
                      <m:sSupPr>
                        <m:ctrlPr>
                          <a:rPr lang="en-US" altLang="zh-CN" sz="2400" b="0" i="1" smtClean="0">
                            <a:solidFill>
                              <a:srgbClr val="002060"/>
                            </a:solidFill>
                            <a:latin typeface="Cambria Math" panose="02040503050406030204" pitchFamily="18" charset="0"/>
                          </a:rPr>
                        </m:ctrlPr>
                      </m:sSupPr>
                      <m:e>
                        <m:r>
                          <a:rPr lang="en-US" altLang="zh-CN" sz="2400" b="0" i="1" smtClean="0">
                            <a:solidFill>
                              <a:srgbClr val="002060"/>
                            </a:solidFill>
                            <a:latin typeface="Cambria Math" panose="02040503050406030204" pitchFamily="18" charset="0"/>
                          </a:rPr>
                          <m:t>𝑅</m:t>
                        </m:r>
                      </m:e>
                      <m:sup>
                        <m:r>
                          <a:rPr lang="en-US" altLang="zh-CN" sz="2400" b="0" i="1" smtClean="0">
                            <a:solidFill>
                              <a:srgbClr val="002060"/>
                            </a:solidFill>
                            <a:latin typeface="Cambria Math" panose="02040503050406030204" pitchFamily="18" charset="0"/>
                          </a:rPr>
                          <m:t>2</m:t>
                        </m:r>
                      </m:sup>
                    </m:sSup>
                  </m:oMath>
                </a14:m>
                <a:r>
                  <a:rPr lang="en-US" altLang="zh-CN" sz="2400" b="0" dirty="0">
                    <a:solidFill>
                      <a:srgbClr val="002060"/>
                    </a:solidFill>
                  </a:rPr>
                  <a:t>! </a:t>
                </a:r>
                <a:r>
                  <a:rPr lang="en-US" altLang="zh-CN" sz="3200" b="1" dirty="0">
                    <a:solidFill>
                      <a:srgbClr val="FF0000"/>
                    </a:solidFill>
                  </a:rPr>
                  <a:t>Expensive!!!</a:t>
                </a:r>
              </a:p>
              <a:p>
                <a:endParaRPr lang="en-US" altLang="zh-CN" sz="3200" b="1" dirty="0">
                  <a:solidFill>
                    <a:srgbClr val="FF0000"/>
                  </a:solidFill>
                </a:endParaRPr>
              </a:p>
              <a:p>
                <a:r>
                  <a:rPr lang="en-US" altLang="zh-CN" sz="2400" dirty="0">
                    <a:solidFill>
                      <a:srgbClr val="0070C0"/>
                    </a:solidFill>
                  </a:rPr>
                  <a:t>--Machine Learning (our project)</a:t>
                </a:r>
              </a:p>
              <a:p>
                <a:endParaRPr lang="en-US" altLang="zh-CN" sz="2400" dirty="0"/>
              </a:p>
              <a:p>
                <a:r>
                  <a:rPr lang="en-US" altLang="zh-CN" sz="2400" dirty="0"/>
                  <a:t>Cost: GPU cluster is all needed. </a:t>
                </a:r>
              </a:p>
              <a:p>
                <a:endParaRPr lang="en-US" altLang="zh-CN" sz="2400" dirty="0"/>
              </a:p>
              <a:p>
                <a:endParaRPr lang="en-US" altLang="zh-CN" sz="2400" b="0" dirty="0"/>
              </a:p>
              <a:p>
                <a:endParaRPr lang="en-US" altLang="zh-CN" sz="2400" dirty="0"/>
              </a:p>
              <a:p>
                <a:pPr marL="514350" indent="-514350">
                  <a:buAutoNum type="arabicPeriod"/>
                </a:pPr>
                <a:endParaRPr lang="en-US" altLang="zh-CN" sz="2800" dirty="0">
                  <a:solidFill>
                    <a:srgbClr val="FF0000"/>
                  </a:solidFill>
                </a:endParaRPr>
              </a:p>
            </p:txBody>
          </p:sp>
        </mc:Choice>
        <mc:Fallback>
          <p:sp>
            <p:nvSpPr>
              <p:cNvPr id="6" name="文本框 5">
                <a:extLst>
                  <a:ext uri="{FF2B5EF4-FFF2-40B4-BE49-F238E27FC236}">
                    <a16:creationId xmlns:a16="http://schemas.microsoft.com/office/drawing/2014/main" id="{632C564C-5F1D-42E7-8048-8BBE2A0DBC2F}"/>
                  </a:ext>
                </a:extLst>
              </p:cNvPr>
              <p:cNvSpPr txBox="1">
                <a:spLocks noRot="1" noChangeAspect="1" noMove="1" noResize="1" noEditPoints="1" noAdjustHandles="1" noChangeArrowheads="1" noChangeShapeType="1" noTextEdit="1"/>
              </p:cNvSpPr>
              <p:nvPr/>
            </p:nvSpPr>
            <p:spPr>
              <a:xfrm>
                <a:off x="5767057" y="440065"/>
                <a:ext cx="5658921" cy="6956071"/>
              </a:xfrm>
              <a:prstGeom prst="rect">
                <a:avLst/>
              </a:prstGeom>
              <a:blipFill>
                <a:blip r:embed="rId3"/>
                <a:stretch>
                  <a:fillRect l="-2155" t="-964" r="-970"/>
                </a:stretch>
              </a:blipFill>
            </p:spPr>
            <p:txBody>
              <a:bodyPr/>
              <a:lstStyle/>
              <a:p>
                <a:r>
                  <a:rPr lang="en-US">
                    <a:noFill/>
                  </a:rPr>
                  <a:t> </a:t>
                </a:r>
              </a:p>
            </p:txBody>
          </p:sp>
        </mc:Fallback>
      </mc:AlternateContent>
    </p:spTree>
    <p:extLst>
      <p:ext uri="{BB962C8B-B14F-4D97-AF65-F5344CB8AC3E}">
        <p14:creationId xmlns:p14="http://schemas.microsoft.com/office/powerpoint/2010/main" val="2647460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8B2FEF9-9118-41CD-972F-37942943E05A}"/>
                  </a:ext>
                </a:extLst>
              </p:cNvPr>
              <p:cNvSpPr>
                <a:spLocks noGrp="1"/>
              </p:cNvSpPr>
              <p:nvPr>
                <p:ph idx="4294967295"/>
              </p:nvPr>
            </p:nvSpPr>
            <p:spPr>
              <a:xfrm>
                <a:off x="1800562" y="168014"/>
                <a:ext cx="8594725" cy="1447800"/>
              </a:xfrm>
            </p:spPr>
            <p:txBody>
              <a:bodyPr/>
              <a:lstStyle/>
              <a:p>
                <a:pPr>
                  <a:spcBef>
                    <a:spcPts val="0"/>
                  </a:spcBef>
                  <a:spcAft>
                    <a:spcPts val="0"/>
                  </a:spcAft>
                </a:pPr>
                <a:r>
                  <a:rPr lang="en-US" altLang="zh-CN" dirty="0"/>
                  <a:t>Fermi LAT diffuse gamma-ray background</a:t>
                </a:r>
              </a:p>
              <a:p>
                <a:pPr>
                  <a:spcBef>
                    <a:spcPts val="0"/>
                  </a:spcBef>
                  <a:spcAft>
                    <a:spcPts val="0"/>
                  </a:spcAft>
                </a:pPr>
                <a:r>
                  <a:rPr lang="en-US" altLang="zh-CN" dirty="0"/>
                  <a:t>Select ROIs with Fibonacci lattice </a:t>
                </a:r>
              </a:p>
              <a:p>
                <a:pPr>
                  <a:spcBef>
                    <a:spcPts val="0"/>
                  </a:spcBef>
                  <a:spcAft>
                    <a:spcPts val="0"/>
                  </a:spcAft>
                </a:pPr>
                <a:r>
                  <a:rPr lang="en-US" altLang="zh-CN" dirty="0"/>
                  <a:t>Extract Sky Map from HEALPix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6.4</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6.4</m:t>
                        </m:r>
                      </m:e>
                      <m:sup>
                        <m:r>
                          <a:rPr lang="en-US" altLang="zh-CN" i="1">
                            <a:latin typeface="Cambria Math" panose="02040503050406030204" pitchFamily="18" charset="0"/>
                          </a:rPr>
                          <m:t>∘</m:t>
                        </m:r>
                      </m:sup>
                    </m:sSup>
                  </m:oMath>
                </a14:m>
                <a:r>
                  <a:rPr lang="en-US" altLang="zh-CN" dirty="0"/>
                  <a:t>)</a:t>
                </a:r>
              </a:p>
              <a:p>
                <a:pPr>
                  <a:spcBef>
                    <a:spcPts val="0"/>
                  </a:spcBef>
                  <a:spcAft>
                    <a:spcPts val="0"/>
                  </a:spcAft>
                </a:pPr>
                <a:r>
                  <a:rPr lang="en-US" altLang="zh-CN" dirty="0"/>
                  <a:t>Bin to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i="1">
                            <a:latin typeface="Cambria Math" panose="02040503050406030204" pitchFamily="18" charset="0"/>
                          </a:rPr>
                          <m:t>0.1</m:t>
                        </m:r>
                      </m:e>
                      <m:sup>
                        <m:r>
                          <a:rPr lang="en-US" altLang="zh-CN" sz="1800" i="1">
                            <a:latin typeface="Cambria Math" panose="02040503050406030204" pitchFamily="18" charset="0"/>
                          </a:rPr>
                          <m:t>∘</m:t>
                        </m:r>
                      </m:sup>
                    </m:sSup>
                  </m:oMath>
                </a14:m>
                <a:r>
                  <a:rPr lang="en-US" altLang="zh-CN" sz="1800" dirty="0"/>
                  <a:t> </a:t>
                </a:r>
                <a14:m>
                  <m:oMath xmlns:m="http://schemas.openxmlformats.org/officeDocument/2006/math">
                    <m:sSup>
                      <m:sSupPr>
                        <m:ctrlPr>
                          <a:rPr lang="en-US" altLang="zh-CN" sz="1800" i="1">
                            <a:latin typeface="Cambria Math" panose="02040503050406030204" pitchFamily="18" charset="0"/>
                          </a:rPr>
                        </m:ctrlPr>
                      </m:sSupPr>
                      <m:e>
                        <m:r>
                          <a:rPr lang="en-US" altLang="zh-CN" sz="1800" b="0" i="1" smtClean="0">
                            <a:latin typeface="Cambria Math" panose="02040503050406030204" pitchFamily="18" charset="0"/>
                          </a:rPr>
                          <m:t>×</m:t>
                        </m:r>
                        <m:r>
                          <a:rPr lang="en-US" altLang="zh-CN" sz="1800" i="1">
                            <a:latin typeface="Cambria Math" panose="02040503050406030204" pitchFamily="18" charset="0"/>
                          </a:rPr>
                          <m:t>0.1</m:t>
                        </m:r>
                      </m:e>
                      <m:sup>
                        <m:r>
                          <a:rPr lang="en-US" altLang="zh-CN" sz="1800" i="1">
                            <a:latin typeface="Cambria Math" panose="02040503050406030204" pitchFamily="18" charset="0"/>
                          </a:rPr>
                          <m:t>∘</m:t>
                        </m:r>
                      </m:sup>
                    </m:sSup>
                  </m:oMath>
                </a14:m>
                <a:r>
                  <a:rPr lang="en-US" altLang="zh-CN" dirty="0"/>
                  <a:t> </a:t>
                </a:r>
              </a:p>
              <a:p>
                <a:pPr>
                  <a:spcBef>
                    <a:spcPts val="0"/>
                  </a:spcBef>
                  <a:spcAft>
                    <a:spcPts val="0"/>
                  </a:spcAft>
                </a:pPr>
                <a:r>
                  <a:rPr lang="en-US" altLang="zh-CN" dirty="0"/>
                  <a:t>Perform 2d convolution with PSF function</a:t>
                </a:r>
              </a:p>
            </p:txBody>
          </p:sp>
        </mc:Choice>
        <mc:Fallback xmlns="">
          <p:sp>
            <p:nvSpPr>
              <p:cNvPr id="3" name="内容占位符 2">
                <a:extLst>
                  <a:ext uri="{FF2B5EF4-FFF2-40B4-BE49-F238E27FC236}">
                    <a16:creationId xmlns:a16="http://schemas.microsoft.com/office/drawing/2014/main" id="{28B2FEF9-9118-41CD-972F-37942943E05A}"/>
                  </a:ext>
                </a:extLst>
              </p:cNvPr>
              <p:cNvSpPr>
                <a:spLocks noGrp="1" noRot="1" noChangeAspect="1" noMove="1" noResize="1" noEditPoints="1" noAdjustHandles="1" noChangeArrowheads="1" noChangeShapeType="1" noTextEdit="1"/>
              </p:cNvSpPr>
              <p:nvPr>
                <p:ph idx="4294967295"/>
              </p:nvPr>
            </p:nvSpPr>
            <p:spPr>
              <a:xfrm>
                <a:off x="1800562" y="168014"/>
                <a:ext cx="8594725" cy="1447800"/>
              </a:xfrm>
              <a:blipFill>
                <a:blip r:embed="rId3"/>
                <a:stretch>
                  <a:fillRect l="-142" t="-3376" b="-3376"/>
                </a:stretch>
              </a:blipFill>
            </p:spPr>
            <p:txBody>
              <a:bodyPr/>
              <a:lstStyle/>
              <a:p>
                <a:r>
                  <a:rPr lang="en-US">
                    <a:noFill/>
                  </a:rPr>
                  <a:t> </a:t>
                </a:r>
              </a:p>
            </p:txBody>
          </p:sp>
        </mc:Fallback>
      </mc:AlternateContent>
      <p:sp>
        <p:nvSpPr>
          <p:cNvPr id="15" name="文本框 14">
            <a:extLst>
              <a:ext uri="{FF2B5EF4-FFF2-40B4-BE49-F238E27FC236}">
                <a16:creationId xmlns:a16="http://schemas.microsoft.com/office/drawing/2014/main" id="{F6A9315D-F0B0-490D-9428-5BC51713B21C}"/>
              </a:ext>
            </a:extLst>
          </p:cNvPr>
          <p:cNvSpPr txBox="1"/>
          <p:nvPr/>
        </p:nvSpPr>
        <p:spPr>
          <a:xfrm>
            <a:off x="237828" y="744165"/>
            <a:ext cx="1317274" cy="338554"/>
          </a:xfrm>
          <a:prstGeom prst="rect">
            <a:avLst/>
          </a:prstGeom>
          <a:noFill/>
          <a:ln>
            <a:solidFill>
              <a:schemeClr val="tx1"/>
            </a:solidFill>
          </a:ln>
        </p:spPr>
        <p:txBody>
          <a:bodyPr vert="horz" wrap="square">
            <a:spAutoFit/>
          </a:bodyPr>
          <a:lstStyle/>
          <a:p>
            <a:r>
              <a:rPr lang="en-US" altLang="zh-CN" sz="1600" dirty="0"/>
              <a:t>BKG DATA</a:t>
            </a:r>
            <a:endParaRPr lang="zh-CN" altLang="en-US" sz="1600" dirty="0"/>
          </a:p>
        </p:txBody>
      </p:sp>
      <p:sp>
        <p:nvSpPr>
          <p:cNvPr id="12" name="object 38">
            <a:extLst>
              <a:ext uri="{FF2B5EF4-FFF2-40B4-BE49-F238E27FC236}">
                <a16:creationId xmlns:a16="http://schemas.microsoft.com/office/drawing/2014/main" id="{B3245F37-1AB1-4203-91D3-20D75D906CE4}"/>
              </a:ext>
            </a:extLst>
          </p:cNvPr>
          <p:cNvSpPr txBox="1"/>
          <p:nvPr/>
        </p:nvSpPr>
        <p:spPr>
          <a:xfrm>
            <a:off x="11523285" y="313047"/>
            <a:ext cx="430887" cy="3608649"/>
          </a:xfrm>
          <a:prstGeom prst="rect">
            <a:avLst/>
          </a:prstGeom>
        </p:spPr>
        <p:txBody>
          <a:bodyPr vert="eaVert" wrap="square" lIns="0" tIns="28390" rIns="0" bIns="0" rtlCol="0">
            <a:spAutoFit/>
          </a:bodyPr>
          <a:lstStyle/>
          <a:p>
            <a:pPr marL="27040">
              <a:spcBef>
                <a:spcPts val="224"/>
              </a:spcBef>
            </a:pPr>
            <a:r>
              <a:rPr lang="en-US" sz="2800" b="1" i="1" spc="-11" dirty="0">
                <a:solidFill>
                  <a:schemeClr val="bg1"/>
                </a:solidFill>
                <a:latin typeface="Calibri"/>
                <a:cs typeface="Calibri"/>
              </a:rPr>
              <a:t>DETAILS</a:t>
            </a:r>
            <a:endParaRPr sz="2800" dirty="0">
              <a:solidFill>
                <a:schemeClr val="bg1"/>
              </a:solidFill>
              <a:latin typeface="Calibri"/>
              <a:cs typeface="Calibri"/>
            </a:endParaRPr>
          </a:p>
        </p:txBody>
      </p:sp>
      <p:pic>
        <p:nvPicPr>
          <p:cNvPr id="14" name="图片 4" hidden="1">
            <a:extLst>
              <a:ext uri="{FF2B5EF4-FFF2-40B4-BE49-F238E27FC236}">
                <a16:creationId xmlns:a16="http://schemas.microsoft.com/office/drawing/2014/main" id="{C60B8123-73DB-448F-A19F-79D93B2E72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92" y="0"/>
            <a:ext cx="10822453" cy="6875440"/>
          </a:xfrm>
          <a:prstGeom prst="rect">
            <a:avLst/>
          </a:prstGeom>
        </p:spPr>
      </p:pic>
      <p:sp>
        <p:nvSpPr>
          <p:cNvPr id="16" name="文本框 14">
            <a:extLst>
              <a:ext uri="{FF2B5EF4-FFF2-40B4-BE49-F238E27FC236}">
                <a16:creationId xmlns:a16="http://schemas.microsoft.com/office/drawing/2014/main" id="{AF423F09-0A3E-4AFB-A8BB-2989B8185353}"/>
              </a:ext>
            </a:extLst>
          </p:cNvPr>
          <p:cNvSpPr txBox="1"/>
          <p:nvPr/>
        </p:nvSpPr>
        <p:spPr>
          <a:xfrm>
            <a:off x="237828" y="3675719"/>
            <a:ext cx="882503" cy="584775"/>
          </a:xfrm>
          <a:prstGeom prst="rect">
            <a:avLst/>
          </a:prstGeom>
          <a:noFill/>
          <a:ln>
            <a:solidFill>
              <a:schemeClr val="tx1"/>
            </a:solidFill>
          </a:ln>
        </p:spPr>
        <p:txBody>
          <a:bodyPr vert="horz" wrap="square">
            <a:spAutoFit/>
          </a:bodyPr>
          <a:lstStyle/>
          <a:p>
            <a:r>
              <a:rPr lang="en-US" altLang="zh-CN" sz="1600" dirty="0"/>
              <a:t>CNN PARA.</a:t>
            </a:r>
            <a:endParaRPr lang="zh-CN" altLang="en-US" sz="1600" dirty="0"/>
          </a:p>
        </p:txBody>
      </p:sp>
      <p:sp>
        <p:nvSpPr>
          <p:cNvPr id="19" name="TextBox 18">
            <a:extLst>
              <a:ext uri="{FF2B5EF4-FFF2-40B4-BE49-F238E27FC236}">
                <a16:creationId xmlns:a16="http://schemas.microsoft.com/office/drawing/2014/main" id="{F361C863-B454-4842-8211-E7397B3E3FD0}"/>
              </a:ext>
            </a:extLst>
          </p:cNvPr>
          <p:cNvSpPr txBox="1"/>
          <p:nvPr/>
        </p:nvSpPr>
        <p:spPr>
          <a:xfrm>
            <a:off x="7849521" y="574888"/>
            <a:ext cx="3409418" cy="923330"/>
          </a:xfrm>
          <a:prstGeom prst="rect">
            <a:avLst/>
          </a:prstGeom>
          <a:noFill/>
        </p:spPr>
        <p:txBody>
          <a:bodyPr wrap="square">
            <a:spAutoFit/>
          </a:bodyPr>
          <a:lstStyle/>
          <a:p>
            <a:r>
              <a:rPr lang="en-US" b="1" dirty="0">
                <a:solidFill>
                  <a:srgbClr val="FF0000"/>
                </a:solidFill>
                <a:effectLst>
                  <a:outerShdw blurRad="38100" dist="38100" dir="2700000" algn="tl">
                    <a:srgbClr val="000000">
                      <a:alpha val="43137"/>
                    </a:srgbClr>
                  </a:outerShdw>
                </a:effectLst>
              </a:rPr>
              <a:t>ENERGY</a:t>
            </a:r>
            <a:r>
              <a:rPr lang="en-US" dirty="0"/>
              <a:t>: 25 </a:t>
            </a:r>
            <a:r>
              <a:rPr lang="en-US" dirty="0" err="1"/>
              <a:t>TeV</a:t>
            </a:r>
            <a:endParaRPr lang="en-US" dirty="0"/>
          </a:p>
          <a:p>
            <a:r>
              <a:rPr lang="en-US" b="1" dirty="0">
                <a:solidFill>
                  <a:srgbClr val="FF0000"/>
                </a:solidFill>
                <a:effectLst>
                  <a:outerShdw blurRad="38100" dist="38100" dir="2700000" algn="tl">
                    <a:srgbClr val="000000">
                      <a:alpha val="43137"/>
                    </a:srgbClr>
                  </a:outerShdw>
                </a:effectLst>
              </a:rPr>
              <a:t>BIN</a:t>
            </a:r>
            <a:r>
              <a:rPr lang="en-US" dirty="0"/>
              <a:t>: 0.1∘ ×0.1∘.</a:t>
            </a:r>
          </a:p>
          <a:p>
            <a:r>
              <a:rPr lang="en-US" b="1" dirty="0">
                <a:solidFill>
                  <a:srgbClr val="FF0000"/>
                </a:solidFill>
                <a:effectLst>
                  <a:outerShdw blurRad="38100" dist="38100" dir="2700000" algn="tl">
                    <a:srgbClr val="000000">
                      <a:alpha val="43137"/>
                    </a:srgbClr>
                  </a:outerShdw>
                </a:effectLst>
              </a:rPr>
              <a:t>DATA SIZE</a:t>
            </a:r>
            <a:r>
              <a:rPr lang="en-US" dirty="0"/>
              <a:t>: 64*64 2-d array</a:t>
            </a:r>
          </a:p>
        </p:txBody>
      </p:sp>
      <p:sp>
        <p:nvSpPr>
          <p:cNvPr id="21" name="TextBox 20">
            <a:extLst>
              <a:ext uri="{FF2B5EF4-FFF2-40B4-BE49-F238E27FC236}">
                <a16:creationId xmlns:a16="http://schemas.microsoft.com/office/drawing/2014/main" id="{027719E9-4A5A-426C-8354-D6B39332A60A}"/>
              </a:ext>
            </a:extLst>
          </p:cNvPr>
          <p:cNvSpPr txBox="1"/>
          <p:nvPr/>
        </p:nvSpPr>
        <p:spPr>
          <a:xfrm>
            <a:off x="2066127" y="3497965"/>
            <a:ext cx="6294431" cy="3046988"/>
          </a:xfrm>
          <a:prstGeom prst="rect">
            <a:avLst/>
          </a:prstGeom>
          <a:noFill/>
        </p:spPr>
        <p:txBody>
          <a:bodyPr wrap="square">
            <a:spAutoFit/>
          </a:bodyPr>
          <a:lstStyle/>
          <a:p>
            <a:r>
              <a:rPr lang="en-US" sz="1200" dirty="0"/>
              <a:t>--------------------------------------------------------------------------------</a:t>
            </a:r>
          </a:p>
          <a:p>
            <a:r>
              <a:rPr lang="en-US" sz="1200" dirty="0"/>
              <a:t>        Layer (type)               Output Shape         Param #</a:t>
            </a:r>
          </a:p>
          <a:p>
            <a:r>
              <a:rPr lang="en-US" sz="1200" dirty="0"/>
              <a:t>============================================</a:t>
            </a:r>
          </a:p>
          <a:p>
            <a:r>
              <a:rPr lang="en-US" sz="1200" dirty="0"/>
              <a:t>            Conv2d-1           [-1, 64, 64, 64]           5,248</a:t>
            </a:r>
          </a:p>
          <a:p>
            <a:r>
              <a:rPr lang="en-US" sz="1200" dirty="0"/>
              <a:t>            Conv2d-2           [-1, 32, 64, 64]          51,232</a:t>
            </a:r>
          </a:p>
          <a:p>
            <a:r>
              <a:rPr lang="en-US" sz="1200" dirty="0"/>
              <a:t>            Conv2d-3            [-1, 1, 64, 64]             801</a:t>
            </a:r>
          </a:p>
          <a:p>
            <a:r>
              <a:rPr lang="en-US" sz="1200" dirty="0"/>
              <a:t>============================================</a:t>
            </a:r>
          </a:p>
          <a:p>
            <a:r>
              <a:rPr lang="en-US" sz="1200" dirty="0"/>
              <a:t>Total params: 57,281</a:t>
            </a:r>
          </a:p>
          <a:p>
            <a:r>
              <a:rPr lang="en-US" sz="1200" dirty="0"/>
              <a:t>Trainable params: 57,281</a:t>
            </a:r>
          </a:p>
          <a:p>
            <a:r>
              <a:rPr lang="en-US" sz="1200" dirty="0"/>
              <a:t>Non-trainable params: 0</a:t>
            </a:r>
          </a:p>
          <a:p>
            <a:r>
              <a:rPr lang="en-US" sz="1200" dirty="0"/>
              <a:t>----------------------------------------------------------------</a:t>
            </a:r>
          </a:p>
          <a:p>
            <a:r>
              <a:rPr lang="en-US" sz="1200" dirty="0"/>
              <a:t>Input size (MB): 0.02</a:t>
            </a:r>
          </a:p>
          <a:p>
            <a:r>
              <a:rPr lang="en-US" sz="1200" dirty="0"/>
              <a:t>Forward/backward pass size (MB): 3.03</a:t>
            </a:r>
          </a:p>
          <a:p>
            <a:r>
              <a:rPr lang="en-US" sz="1200" dirty="0"/>
              <a:t>Params size (MB): 0.22</a:t>
            </a:r>
          </a:p>
          <a:p>
            <a:r>
              <a:rPr lang="en-US" sz="1200" dirty="0"/>
              <a:t>Estimated Total Size (MB): 3.27</a:t>
            </a:r>
          </a:p>
          <a:p>
            <a:r>
              <a:rPr lang="en-US" sz="1200" dirty="0"/>
              <a:t>----------------------------------------------------------------</a:t>
            </a:r>
          </a:p>
        </p:txBody>
      </p:sp>
      <p:sp>
        <p:nvSpPr>
          <p:cNvPr id="24" name="文本框 14">
            <a:extLst>
              <a:ext uri="{FF2B5EF4-FFF2-40B4-BE49-F238E27FC236}">
                <a16:creationId xmlns:a16="http://schemas.microsoft.com/office/drawing/2014/main" id="{07FB148B-E902-448E-9CA7-93DC98C9C556}"/>
              </a:ext>
            </a:extLst>
          </p:cNvPr>
          <p:cNvSpPr txBox="1"/>
          <p:nvPr/>
        </p:nvSpPr>
        <p:spPr>
          <a:xfrm>
            <a:off x="237828" y="2226263"/>
            <a:ext cx="882503" cy="584775"/>
          </a:xfrm>
          <a:prstGeom prst="rect">
            <a:avLst/>
          </a:prstGeom>
          <a:noFill/>
          <a:ln>
            <a:solidFill>
              <a:schemeClr val="tx1"/>
            </a:solidFill>
          </a:ln>
        </p:spPr>
        <p:txBody>
          <a:bodyPr vert="horz" wrap="square">
            <a:spAutoFit/>
          </a:bodyPr>
          <a:lstStyle/>
          <a:p>
            <a:r>
              <a:rPr lang="en-US" altLang="zh-CN" sz="1600" dirty="0"/>
              <a:t>TRAIN PARA.</a:t>
            </a:r>
            <a:endParaRPr lang="zh-CN" altLang="en-US" sz="1600" dirty="0"/>
          </a:p>
        </p:txBody>
      </p:sp>
      <p:sp>
        <p:nvSpPr>
          <p:cNvPr id="25" name="TextBox 24">
            <a:extLst>
              <a:ext uri="{FF2B5EF4-FFF2-40B4-BE49-F238E27FC236}">
                <a16:creationId xmlns:a16="http://schemas.microsoft.com/office/drawing/2014/main" id="{77545824-D836-4646-A136-4EBB82CE09CF}"/>
              </a:ext>
            </a:extLst>
          </p:cNvPr>
          <p:cNvSpPr txBox="1"/>
          <p:nvPr/>
        </p:nvSpPr>
        <p:spPr>
          <a:xfrm>
            <a:off x="2003594" y="1779987"/>
            <a:ext cx="6102220" cy="1477328"/>
          </a:xfrm>
          <a:prstGeom prst="rect">
            <a:avLst/>
          </a:prstGeom>
          <a:noFill/>
        </p:spPr>
        <p:txBody>
          <a:bodyPr wrap="square">
            <a:spAutoFit/>
          </a:bodyPr>
          <a:lstStyle/>
          <a:p>
            <a:r>
              <a:rPr lang="en-US" dirty="0"/>
              <a:t>NUM_TO_LEARN = 2400 </a:t>
            </a:r>
          </a:p>
          <a:p>
            <a:r>
              <a:rPr lang="en-US" dirty="0"/>
              <a:t>NUM_TO_TEST = 400</a:t>
            </a:r>
          </a:p>
          <a:p>
            <a:r>
              <a:rPr lang="en-US" dirty="0"/>
              <a:t>EPOCHS = 200 </a:t>
            </a:r>
          </a:p>
          <a:p>
            <a:r>
              <a:rPr lang="en-US" dirty="0"/>
              <a:t>1BATCH_SIZE = 32 </a:t>
            </a:r>
          </a:p>
          <a:p>
            <a:r>
              <a:rPr lang="en-US" dirty="0"/>
              <a:t>LR_MAX = 5e-4LR_MIN = 5e-6</a:t>
            </a:r>
          </a:p>
        </p:txBody>
      </p:sp>
      <p:sp>
        <p:nvSpPr>
          <p:cNvPr id="26" name="文本框 14">
            <a:extLst>
              <a:ext uri="{FF2B5EF4-FFF2-40B4-BE49-F238E27FC236}">
                <a16:creationId xmlns:a16="http://schemas.microsoft.com/office/drawing/2014/main" id="{50392193-ED94-40BE-9A89-1CF22DCCB7DD}"/>
              </a:ext>
            </a:extLst>
          </p:cNvPr>
          <p:cNvSpPr txBox="1"/>
          <p:nvPr/>
        </p:nvSpPr>
        <p:spPr>
          <a:xfrm>
            <a:off x="8747088" y="1882677"/>
            <a:ext cx="764126" cy="338554"/>
          </a:xfrm>
          <a:prstGeom prst="rect">
            <a:avLst/>
          </a:prstGeom>
          <a:noFill/>
          <a:ln>
            <a:solidFill>
              <a:schemeClr val="tx1"/>
            </a:solidFill>
          </a:ln>
        </p:spPr>
        <p:txBody>
          <a:bodyPr vert="horz" wrap="square">
            <a:spAutoFit/>
          </a:bodyPr>
          <a:lstStyle/>
          <a:p>
            <a:r>
              <a:rPr lang="en-US" altLang="zh-CN" sz="1600" dirty="0"/>
              <a:t>LOSS</a:t>
            </a:r>
            <a:endParaRPr lang="zh-CN" altLang="en-US" sz="16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95C43DB-25E8-4C5D-B7A6-DD6F5FEE9F25}"/>
                  </a:ext>
                </a:extLst>
              </p:cNvPr>
              <p:cNvSpPr txBox="1"/>
              <p:nvPr/>
            </p:nvSpPr>
            <p:spPr>
              <a:xfrm>
                <a:off x="6394580" y="2352242"/>
                <a:ext cx="5128705" cy="1281441"/>
              </a:xfrm>
              <a:prstGeom prst="rect">
                <a:avLst/>
              </a:prstGeom>
              <a:noFill/>
            </p:spPr>
            <p:txBody>
              <a:bodyPr wrap="square">
                <a:spAutoFit/>
              </a:bodyPr>
              <a:lstStyle/>
              <a:p>
                <a:pPr lvl="2"/>
                <a14:m>
                  <m:oMath xmlns:m="http://schemas.openxmlformats.org/officeDocument/2006/math">
                    <m:r>
                      <a:rPr lang="en-US" altLang="zh-CN" sz="1800" b="0" i="1" smtClean="0">
                        <a:latin typeface="Cambria Math" panose="02040503050406030204" pitchFamily="18" charset="0"/>
                      </a:rPr>
                      <m:t>𝐽𝑆𝐷</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𝑃</m:t>
                    </m:r>
                    <m:r>
                      <a:rPr lang="en-US" altLang="zh-CN" sz="1800" b="0" i="1" smtClean="0">
                        <a:latin typeface="Cambria Math" panose="02040503050406030204" pitchFamily="18" charset="0"/>
                      </a:rPr>
                      <m:t>|</m:t>
                    </m:r>
                    <m:d>
                      <m:dPr>
                        <m:begChr m:val="|"/>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𝑄</m:t>
                        </m:r>
                      </m:e>
                    </m:d>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2</m:t>
                        </m:r>
                      </m:den>
                    </m:f>
                    <m:r>
                      <a:rPr lang="en-US" altLang="zh-CN" sz="1800" b="0" i="1" smtClean="0">
                        <a:latin typeface="Cambria Math" panose="02040503050406030204" pitchFamily="18" charset="0"/>
                      </a:rPr>
                      <m:t>𝐾𝐿</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𝑃</m:t>
                    </m:r>
                    <m:r>
                      <a:rPr lang="en-US" altLang="zh-CN" sz="1800" b="0" i="1" smtClean="0">
                        <a:latin typeface="Cambria Math" panose="02040503050406030204" pitchFamily="18" charset="0"/>
                      </a:rPr>
                      <m:t>|</m:t>
                    </m:r>
                    <m:d>
                      <m:dPr>
                        <m:begChr m:val="|"/>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𝑀</m:t>
                        </m:r>
                      </m:e>
                    </m:d>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2</m:t>
                        </m:r>
                      </m:den>
                    </m:f>
                    <m:r>
                      <a:rPr lang="en-US" altLang="zh-CN" sz="1800" b="0" i="1" smtClean="0">
                        <a:latin typeface="Cambria Math" panose="02040503050406030204" pitchFamily="18" charset="0"/>
                      </a:rPr>
                      <m:t>𝐾𝐿</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𝑄</m:t>
                    </m:r>
                    <m:r>
                      <a:rPr lang="en-US" altLang="zh-CN" sz="1800" b="0" i="1" smtClean="0">
                        <a:latin typeface="Cambria Math" panose="02040503050406030204" pitchFamily="18" charset="0"/>
                      </a:rPr>
                      <m:t>|</m:t>
                    </m:r>
                    <m:d>
                      <m:dPr>
                        <m:begChr m:val="|"/>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𝑀</m:t>
                        </m:r>
                      </m:e>
                    </m:d>
                  </m:oMath>
                </a14:m>
                <a:r>
                  <a:rPr lang="en-US" altLang="zh-CN" sz="1800" dirty="0"/>
                  <a:t>,</a:t>
                </a:r>
              </a:p>
              <a:p>
                <a:pPr marL="548640" lvl="2" indent="0">
                  <a:buNone/>
                </a:pPr>
                <a:r>
                  <a:rPr lang="en-US" altLang="zh-CN" sz="1800" dirty="0"/>
                  <a:t>	where </a:t>
                </a:r>
                <a14:m>
                  <m:oMath xmlns:m="http://schemas.openxmlformats.org/officeDocument/2006/math">
                    <m:r>
                      <a:rPr lang="en-US" altLang="zh-CN" sz="1800" b="0" i="1" smtClean="0">
                        <a:latin typeface="Cambria Math" panose="02040503050406030204" pitchFamily="18" charset="0"/>
                      </a:rPr>
                      <m:t>𝑀</m:t>
                    </m:r>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2</m:t>
                        </m:r>
                      </m:den>
                    </m:f>
                    <m:d>
                      <m:dPr>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𝑃</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𝑄</m:t>
                        </m:r>
                      </m:e>
                    </m:d>
                  </m:oMath>
                </a14:m>
                <a:r>
                  <a:rPr lang="en-US" altLang="zh-CN" sz="1800" b="0" i="1" dirty="0">
                    <a:latin typeface="Cambria Math" panose="02040503050406030204" pitchFamily="18" charset="0"/>
                  </a:rPr>
                  <a:t>,</a:t>
                </a:r>
              </a:p>
              <a:p>
                <a:pPr marL="548640" lvl="2" indent="0">
                  <a:buNone/>
                </a:pPr>
                <a:r>
                  <a:rPr lang="en-US" altLang="zh-CN" sz="1800" dirty="0"/>
                  <a:t>	a</a:t>
                </a:r>
                <a:r>
                  <a:rPr lang="en-US" altLang="zh-CN" sz="1800" b="0" dirty="0"/>
                  <a:t>nd </a:t>
                </a:r>
                <a14:m>
                  <m:oMath xmlns:m="http://schemas.openxmlformats.org/officeDocument/2006/math">
                    <m:r>
                      <a:rPr lang="en-US" altLang="zh-CN" sz="1800" b="0" i="1" smtClean="0">
                        <a:latin typeface="Cambria Math" panose="02040503050406030204" pitchFamily="18" charset="0"/>
                      </a:rPr>
                      <m:t>𝐾𝐿</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𝑃</m:t>
                    </m:r>
                    <m:r>
                      <a:rPr lang="en-US" altLang="zh-CN" sz="1800" b="0" i="1" smtClean="0">
                        <a:latin typeface="Cambria Math" panose="02040503050406030204" pitchFamily="18" charset="0"/>
                      </a:rPr>
                      <m:t>|</m:t>
                    </m:r>
                    <m:d>
                      <m:dPr>
                        <m:begChr m:val="|"/>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𝑄</m:t>
                        </m:r>
                      </m:e>
                    </m:d>
                    <m:r>
                      <a:rPr lang="en-US" altLang="zh-CN" sz="1800" b="0" i="1" smtClean="0">
                        <a:latin typeface="Cambria Math" panose="02040503050406030204" pitchFamily="18" charset="0"/>
                      </a:rPr>
                      <m:t>=</m:t>
                    </m:r>
                    <m:nary>
                      <m:naryPr>
                        <m:chr m:val="∑"/>
                        <m:supHide m:val="on"/>
                        <m:ctrlPr>
                          <a:rPr lang="en-US" altLang="zh-CN" sz="1800" b="0" i="1" smtClean="0">
                            <a:latin typeface="Cambria Math" panose="02040503050406030204" pitchFamily="18" charset="0"/>
                          </a:rPr>
                        </m:ctrlPr>
                      </m:naryPr>
                      <m:sub>
                        <m:r>
                          <a:rPr lang="en-US" altLang="zh-CN" sz="1800" b="0" i="1" smtClean="0">
                            <a:latin typeface="Cambria Math" panose="02040503050406030204" pitchFamily="18" charset="0"/>
                          </a:rPr>
                          <m:t>𝑖</m:t>
                        </m:r>
                      </m:sub>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𝑝</m:t>
                            </m:r>
                          </m:e>
                          <m:sub>
                            <m:r>
                              <a:rPr lang="en-US" altLang="zh-CN" sz="1800" b="0" i="1" smtClean="0">
                                <a:latin typeface="Cambria Math" panose="02040503050406030204" pitchFamily="18" charset="0"/>
                              </a:rPr>
                              <m:t>𝑖</m:t>
                            </m:r>
                          </m:sub>
                        </m:sSub>
                        <m:func>
                          <m:funcPr>
                            <m:ctrlPr>
                              <a:rPr lang="en-US" altLang="zh-CN" sz="1800" b="0" i="1" smtClean="0">
                                <a:latin typeface="Cambria Math" panose="02040503050406030204" pitchFamily="18" charset="0"/>
                              </a:rPr>
                            </m:ctrlPr>
                          </m:funcPr>
                          <m:fName>
                            <m:r>
                              <m:rPr>
                                <m:sty m:val="p"/>
                              </m:rPr>
                              <a:rPr lang="en-US" altLang="zh-CN" sz="1800" b="0" i="0" smtClean="0">
                                <a:latin typeface="Cambria Math" panose="02040503050406030204" pitchFamily="18" charset="0"/>
                              </a:rPr>
                              <m:t>log</m:t>
                            </m:r>
                          </m:fName>
                          <m:e>
                            <m:f>
                              <m:fPr>
                                <m:ctrlPr>
                                  <a:rPr lang="en-US" altLang="zh-CN" sz="1800" b="0" i="1" smtClean="0">
                                    <a:latin typeface="Cambria Math" panose="02040503050406030204" pitchFamily="18" charset="0"/>
                                  </a:rPr>
                                </m:ctrlPr>
                              </m:fPr>
                              <m:num>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𝑝</m:t>
                                    </m:r>
                                  </m:e>
                                  <m:sub>
                                    <m:r>
                                      <a:rPr lang="en-US" altLang="zh-CN" sz="1800" b="0" i="1" smtClean="0">
                                        <a:latin typeface="Cambria Math" panose="02040503050406030204" pitchFamily="18" charset="0"/>
                                      </a:rPr>
                                      <m:t>𝑖</m:t>
                                    </m:r>
                                  </m:sub>
                                </m:sSub>
                              </m:num>
                              <m:den>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𝑞</m:t>
                                    </m:r>
                                  </m:e>
                                  <m:sub>
                                    <m:r>
                                      <a:rPr lang="en-US" altLang="zh-CN" sz="1800" b="0" i="1" smtClean="0">
                                        <a:latin typeface="Cambria Math" panose="02040503050406030204" pitchFamily="18" charset="0"/>
                                      </a:rPr>
                                      <m:t>𝑖</m:t>
                                    </m:r>
                                  </m:sub>
                                </m:sSub>
                              </m:den>
                            </m:f>
                          </m:e>
                        </m:func>
                      </m:e>
                    </m:nary>
                  </m:oMath>
                </a14:m>
                <a:r>
                  <a:rPr lang="en-US" altLang="zh-CN" sz="1800" dirty="0"/>
                  <a:t>.</a:t>
                </a:r>
              </a:p>
            </p:txBody>
          </p:sp>
        </mc:Choice>
        <mc:Fallback xmlns="">
          <p:sp>
            <p:nvSpPr>
              <p:cNvPr id="27" name="TextBox 26">
                <a:extLst>
                  <a:ext uri="{FF2B5EF4-FFF2-40B4-BE49-F238E27FC236}">
                    <a16:creationId xmlns:a16="http://schemas.microsoft.com/office/drawing/2014/main" id="{C95C43DB-25E8-4C5D-B7A6-DD6F5FEE9F25}"/>
                  </a:ext>
                </a:extLst>
              </p:cNvPr>
              <p:cNvSpPr txBox="1">
                <a:spLocks noRot="1" noChangeAspect="1" noMove="1" noResize="1" noEditPoints="1" noAdjustHandles="1" noChangeArrowheads="1" noChangeShapeType="1" noTextEdit="1"/>
              </p:cNvSpPr>
              <p:nvPr/>
            </p:nvSpPr>
            <p:spPr>
              <a:xfrm>
                <a:off x="6394580" y="2352242"/>
                <a:ext cx="5128705" cy="1281441"/>
              </a:xfrm>
              <a:prstGeom prst="rect">
                <a:avLst/>
              </a:prstGeom>
              <a:blipFill>
                <a:blip r:embed="rId5"/>
                <a:stretch>
                  <a:fillRect b="-45714"/>
                </a:stretch>
              </a:blipFill>
            </p:spPr>
            <p:txBody>
              <a:bodyPr/>
              <a:lstStyle/>
              <a:p>
                <a:r>
                  <a:rPr lang="en-US">
                    <a:noFill/>
                  </a:rPr>
                  <a:t> </a:t>
                </a:r>
              </a:p>
            </p:txBody>
          </p:sp>
        </mc:Fallback>
      </mc:AlternateContent>
      <p:sp>
        <p:nvSpPr>
          <p:cNvPr id="28" name="文本框 14">
            <a:extLst>
              <a:ext uri="{FF2B5EF4-FFF2-40B4-BE49-F238E27FC236}">
                <a16:creationId xmlns:a16="http://schemas.microsoft.com/office/drawing/2014/main" id="{813EAD85-C58C-40E6-A954-425AA0330F52}"/>
              </a:ext>
            </a:extLst>
          </p:cNvPr>
          <p:cNvSpPr txBox="1"/>
          <p:nvPr/>
        </p:nvSpPr>
        <p:spPr>
          <a:xfrm>
            <a:off x="7781493" y="236334"/>
            <a:ext cx="2695314" cy="338554"/>
          </a:xfrm>
          <a:prstGeom prst="rect">
            <a:avLst/>
          </a:prstGeom>
          <a:noFill/>
          <a:ln>
            <a:solidFill>
              <a:schemeClr val="tx1"/>
            </a:solidFill>
          </a:ln>
        </p:spPr>
        <p:txBody>
          <a:bodyPr vert="horz" wrap="square">
            <a:spAutoFit/>
          </a:bodyPr>
          <a:lstStyle/>
          <a:p>
            <a:r>
              <a:rPr lang="en-US" altLang="zh-CN" sz="1600" dirty="0"/>
              <a:t>EXPERIMENTAL PARA.</a:t>
            </a:r>
            <a:endParaRPr lang="zh-CN" altLang="en-US" sz="1600" dirty="0"/>
          </a:p>
        </p:txBody>
      </p:sp>
      <p:grpSp>
        <p:nvGrpSpPr>
          <p:cNvPr id="29" name="Group 28">
            <a:extLst>
              <a:ext uri="{FF2B5EF4-FFF2-40B4-BE49-F238E27FC236}">
                <a16:creationId xmlns:a16="http://schemas.microsoft.com/office/drawing/2014/main" id="{7A0FA3BC-060B-4E17-9411-509AEC22843C}"/>
              </a:ext>
            </a:extLst>
          </p:cNvPr>
          <p:cNvGrpSpPr/>
          <p:nvPr/>
        </p:nvGrpSpPr>
        <p:grpSpPr>
          <a:xfrm>
            <a:off x="6634297" y="4180176"/>
            <a:ext cx="5294428" cy="1994121"/>
            <a:chOff x="229063" y="41097502"/>
            <a:chExt cx="14606546" cy="1722912"/>
          </a:xfrm>
        </p:grpSpPr>
        <p:grpSp>
          <p:nvGrpSpPr>
            <p:cNvPr id="30" name="object 27">
              <a:extLst>
                <a:ext uri="{FF2B5EF4-FFF2-40B4-BE49-F238E27FC236}">
                  <a16:creationId xmlns:a16="http://schemas.microsoft.com/office/drawing/2014/main" id="{B17CBBD0-E182-4FBA-9825-1F62D1DEE7E5}"/>
                </a:ext>
              </a:extLst>
            </p:cNvPr>
            <p:cNvGrpSpPr/>
            <p:nvPr/>
          </p:nvGrpSpPr>
          <p:grpSpPr>
            <a:xfrm>
              <a:off x="229063" y="41097502"/>
              <a:ext cx="14606546" cy="1722912"/>
              <a:chOff x="7385631" y="18842807"/>
              <a:chExt cx="6267734" cy="623570"/>
            </a:xfrm>
          </p:grpSpPr>
          <p:sp>
            <p:nvSpPr>
              <p:cNvPr id="32" name="object 28">
                <a:extLst>
                  <a:ext uri="{FF2B5EF4-FFF2-40B4-BE49-F238E27FC236}">
                    <a16:creationId xmlns:a16="http://schemas.microsoft.com/office/drawing/2014/main" id="{8E48DB08-697D-428A-9366-B405B3A741BF}"/>
                  </a:ext>
                </a:extLst>
              </p:cNvPr>
              <p:cNvSpPr/>
              <p:nvPr/>
            </p:nvSpPr>
            <p:spPr>
              <a:xfrm>
                <a:off x="7385631" y="18842807"/>
                <a:ext cx="6267734" cy="623570"/>
              </a:xfrm>
              <a:custGeom>
                <a:avLst/>
                <a:gdLst/>
                <a:ahLst/>
                <a:cxnLst/>
                <a:rect l="l" t="t" r="r" b="b"/>
                <a:pathLst>
                  <a:path w="6375400" h="623569">
                    <a:moveTo>
                      <a:pt x="6271574" y="0"/>
                    </a:moveTo>
                    <a:lnTo>
                      <a:pt x="103831" y="0"/>
                    </a:lnTo>
                    <a:lnTo>
                      <a:pt x="63401" y="8155"/>
                    </a:lnTo>
                    <a:lnTo>
                      <a:pt x="30399" y="30399"/>
                    </a:lnTo>
                    <a:lnTo>
                      <a:pt x="8155" y="63401"/>
                    </a:lnTo>
                    <a:lnTo>
                      <a:pt x="0" y="103831"/>
                    </a:lnTo>
                    <a:lnTo>
                      <a:pt x="0" y="519155"/>
                    </a:lnTo>
                    <a:lnTo>
                      <a:pt x="8155" y="559570"/>
                    </a:lnTo>
                    <a:lnTo>
                      <a:pt x="30399" y="592574"/>
                    </a:lnTo>
                    <a:lnTo>
                      <a:pt x="63401" y="614827"/>
                    </a:lnTo>
                    <a:lnTo>
                      <a:pt x="103831" y="622987"/>
                    </a:lnTo>
                    <a:lnTo>
                      <a:pt x="6271574" y="622987"/>
                    </a:lnTo>
                    <a:lnTo>
                      <a:pt x="6312003" y="614827"/>
                    </a:lnTo>
                    <a:lnTo>
                      <a:pt x="6345005" y="592574"/>
                    </a:lnTo>
                    <a:lnTo>
                      <a:pt x="6367250" y="559570"/>
                    </a:lnTo>
                    <a:lnTo>
                      <a:pt x="6375405" y="519155"/>
                    </a:lnTo>
                    <a:lnTo>
                      <a:pt x="6375405" y="103831"/>
                    </a:lnTo>
                    <a:lnTo>
                      <a:pt x="6367250" y="63401"/>
                    </a:lnTo>
                    <a:lnTo>
                      <a:pt x="6345005" y="30399"/>
                    </a:lnTo>
                    <a:lnTo>
                      <a:pt x="6312003" y="8155"/>
                    </a:lnTo>
                    <a:lnTo>
                      <a:pt x="6271574" y="0"/>
                    </a:lnTo>
                    <a:close/>
                  </a:path>
                </a:pathLst>
              </a:custGeom>
              <a:solidFill>
                <a:srgbClr val="F9D2EC"/>
              </a:solidFill>
            </p:spPr>
            <p:txBody>
              <a:bodyPr wrap="square" lIns="0" tIns="0" rIns="0" bIns="0" rtlCol="0"/>
              <a:lstStyle/>
              <a:p>
                <a:endParaRPr sz="5400"/>
              </a:p>
            </p:txBody>
          </p:sp>
          <p:sp>
            <p:nvSpPr>
              <p:cNvPr id="33" name="object 29">
                <a:extLst>
                  <a:ext uri="{FF2B5EF4-FFF2-40B4-BE49-F238E27FC236}">
                    <a16:creationId xmlns:a16="http://schemas.microsoft.com/office/drawing/2014/main" id="{639B5844-C76F-494D-82AC-54F260EA2CAA}"/>
                  </a:ext>
                </a:extLst>
              </p:cNvPr>
              <p:cNvSpPr/>
              <p:nvPr/>
            </p:nvSpPr>
            <p:spPr>
              <a:xfrm>
                <a:off x="7385631" y="18842807"/>
                <a:ext cx="6267733" cy="623570"/>
              </a:xfrm>
              <a:custGeom>
                <a:avLst/>
                <a:gdLst/>
                <a:ahLst/>
                <a:cxnLst/>
                <a:rect l="l" t="t" r="r" b="b"/>
                <a:pathLst>
                  <a:path w="6375400" h="623569">
                    <a:moveTo>
                      <a:pt x="0" y="103831"/>
                    </a:moveTo>
                    <a:lnTo>
                      <a:pt x="8155" y="63401"/>
                    </a:lnTo>
                    <a:lnTo>
                      <a:pt x="30399" y="30399"/>
                    </a:lnTo>
                    <a:lnTo>
                      <a:pt x="63401" y="8155"/>
                    </a:lnTo>
                    <a:lnTo>
                      <a:pt x="103831" y="0"/>
                    </a:lnTo>
                    <a:lnTo>
                      <a:pt x="6271574" y="0"/>
                    </a:lnTo>
                    <a:lnTo>
                      <a:pt x="6312003" y="8155"/>
                    </a:lnTo>
                    <a:lnTo>
                      <a:pt x="6345005" y="30399"/>
                    </a:lnTo>
                    <a:lnTo>
                      <a:pt x="6367250" y="63401"/>
                    </a:lnTo>
                    <a:lnTo>
                      <a:pt x="6375405" y="103831"/>
                    </a:lnTo>
                    <a:lnTo>
                      <a:pt x="6375405" y="519155"/>
                    </a:lnTo>
                    <a:lnTo>
                      <a:pt x="6367250" y="559570"/>
                    </a:lnTo>
                    <a:lnTo>
                      <a:pt x="6345005" y="592574"/>
                    </a:lnTo>
                    <a:lnTo>
                      <a:pt x="6312003" y="614827"/>
                    </a:lnTo>
                    <a:lnTo>
                      <a:pt x="6271574" y="622987"/>
                    </a:lnTo>
                    <a:lnTo>
                      <a:pt x="103831" y="622987"/>
                    </a:lnTo>
                    <a:lnTo>
                      <a:pt x="63401" y="614827"/>
                    </a:lnTo>
                    <a:lnTo>
                      <a:pt x="30399" y="592574"/>
                    </a:lnTo>
                    <a:lnTo>
                      <a:pt x="8155" y="559570"/>
                    </a:lnTo>
                    <a:lnTo>
                      <a:pt x="0" y="519155"/>
                    </a:lnTo>
                    <a:lnTo>
                      <a:pt x="0" y="103831"/>
                    </a:lnTo>
                    <a:close/>
                  </a:path>
                </a:pathLst>
              </a:custGeom>
              <a:solidFill>
                <a:schemeClr val="bg1"/>
              </a:solidFill>
              <a:ln w="7092">
                <a:solidFill>
                  <a:schemeClr val="tx1"/>
                </a:solidFill>
              </a:ln>
            </p:spPr>
            <p:txBody>
              <a:bodyPr wrap="square" lIns="0" tIns="0" rIns="0" bIns="0" rtlCol="0"/>
              <a:lstStyle/>
              <a:p>
                <a:endParaRPr sz="4400"/>
              </a:p>
            </p:txBody>
          </p:sp>
        </p:grpSp>
        <p:sp>
          <p:nvSpPr>
            <p:cNvPr id="31" name="TextBox 30">
              <a:extLst>
                <a:ext uri="{FF2B5EF4-FFF2-40B4-BE49-F238E27FC236}">
                  <a16:creationId xmlns:a16="http://schemas.microsoft.com/office/drawing/2014/main" id="{6B0FE347-3EC6-47C4-B0DE-62EF6E609B17}"/>
                </a:ext>
              </a:extLst>
            </p:cNvPr>
            <p:cNvSpPr txBox="1"/>
            <p:nvPr/>
          </p:nvSpPr>
          <p:spPr>
            <a:xfrm>
              <a:off x="374184" y="41171520"/>
              <a:ext cx="14276695" cy="1396068"/>
            </a:xfrm>
            <a:prstGeom prst="rect">
              <a:avLst/>
            </a:prstGeom>
            <a:noFill/>
          </p:spPr>
          <p:txBody>
            <a:bodyPr wrap="square" rtlCol="0">
              <a:spAutoFit/>
            </a:bodyPr>
            <a:lstStyle/>
            <a:p>
              <a:pPr algn="ctr"/>
              <a:r>
                <a:rPr lang="en-US" sz="1100" b="1" dirty="0">
                  <a:latin typeface="+mj-lt"/>
                </a:rPr>
                <a:t>REFERENCES</a:t>
              </a:r>
            </a:p>
            <a:p>
              <a:r>
                <a:rPr lang="en-US" sz="1100" b="0" i="0" dirty="0">
                  <a:solidFill>
                    <a:srgbClr val="222222"/>
                  </a:solidFill>
                  <a:effectLst/>
                  <a:latin typeface="+mj-lt"/>
                </a:rPr>
                <a:t>1. Wang, et al. "Deep learning enables cross-modality super-resolution in 	fluorescence microscopy." </a:t>
              </a:r>
              <a:r>
                <a:rPr lang="en-US" sz="1100" b="0" i="1" dirty="0">
                  <a:solidFill>
                    <a:srgbClr val="222222"/>
                  </a:solidFill>
                  <a:effectLst/>
                  <a:latin typeface="+mj-lt"/>
                </a:rPr>
                <a:t>Nature methods</a:t>
              </a:r>
              <a:r>
                <a:rPr lang="en-US" sz="1100" b="0" i="0" dirty="0">
                  <a:solidFill>
                    <a:srgbClr val="222222"/>
                  </a:solidFill>
                  <a:effectLst/>
                  <a:latin typeface="+mj-lt"/>
                </a:rPr>
                <a:t> 16.1 (2019): 103-110.</a:t>
              </a:r>
            </a:p>
            <a:p>
              <a:r>
                <a:rPr lang="en-US" sz="1100" b="0" i="0" dirty="0">
                  <a:solidFill>
                    <a:srgbClr val="222222"/>
                  </a:solidFill>
                  <a:effectLst/>
                  <a:latin typeface="+mj-lt"/>
                </a:rPr>
                <a:t>2. Ouyang, et al. "Deep learning massively accelerates super-resolution 	localization microscopy." </a:t>
              </a:r>
              <a:r>
                <a:rPr lang="en-US" sz="1100" b="0" i="1" dirty="0">
                  <a:solidFill>
                    <a:srgbClr val="222222"/>
                  </a:solidFill>
                  <a:effectLst/>
                  <a:latin typeface="+mj-lt"/>
                </a:rPr>
                <a:t>Nature biotechnology</a:t>
              </a:r>
              <a:r>
                <a:rPr lang="en-US" sz="1100" b="0" i="0" dirty="0">
                  <a:solidFill>
                    <a:srgbClr val="222222"/>
                  </a:solidFill>
                  <a:effectLst/>
                  <a:latin typeface="+mj-lt"/>
                </a:rPr>
                <a:t> 36.5 (2018): 460-468.</a:t>
              </a:r>
            </a:p>
            <a:p>
              <a:r>
                <a:rPr lang="en-US" sz="1100" b="0" i="0" dirty="0">
                  <a:solidFill>
                    <a:srgbClr val="222222"/>
                  </a:solidFill>
                  <a:effectLst/>
                  <a:latin typeface="+mj-lt"/>
                </a:rPr>
                <a:t>3. Nehme, et al. "Deep-STORM: super-resolution single-molecule microscopy 	by deep learning." </a:t>
              </a:r>
              <a:r>
                <a:rPr lang="en-US" sz="1100" b="0" i="1" dirty="0">
                  <a:solidFill>
                    <a:srgbClr val="222222"/>
                  </a:solidFill>
                  <a:effectLst/>
                  <a:latin typeface="+mj-lt"/>
                </a:rPr>
                <a:t>Optica</a:t>
              </a:r>
              <a:r>
                <a:rPr lang="en-US" sz="1100" b="0" i="0" dirty="0">
                  <a:solidFill>
                    <a:srgbClr val="222222"/>
                  </a:solidFill>
                  <a:effectLst/>
                  <a:latin typeface="+mj-lt"/>
                </a:rPr>
                <a:t> 5.4 (2018): 458-464.</a:t>
              </a:r>
            </a:p>
            <a:p>
              <a:r>
                <a:rPr lang="en-US" sz="1100" dirty="0">
                  <a:latin typeface="+mj-lt"/>
                </a:rPr>
                <a:t>4. </a:t>
              </a:r>
              <a:r>
                <a:rPr lang="en-US" sz="1100" b="0" i="0" dirty="0" err="1">
                  <a:solidFill>
                    <a:srgbClr val="222222"/>
                  </a:solidFill>
                  <a:effectLst/>
                  <a:latin typeface="+mj-lt"/>
                </a:rPr>
                <a:t>Qiao</a:t>
              </a:r>
              <a:r>
                <a:rPr lang="en-US" sz="1100" b="0" i="0" dirty="0">
                  <a:solidFill>
                    <a:srgbClr val="222222"/>
                  </a:solidFill>
                  <a:effectLst/>
                  <a:latin typeface="+mj-lt"/>
                </a:rPr>
                <a:t>, et al. "Evaluation and development of deep neural networks for 	image super-resolution ..." </a:t>
              </a:r>
              <a:r>
                <a:rPr lang="en-US" sz="1100" b="0" i="1" dirty="0">
                  <a:solidFill>
                    <a:srgbClr val="222222"/>
                  </a:solidFill>
                  <a:effectLst/>
                  <a:latin typeface="+mj-lt"/>
                </a:rPr>
                <a:t>Nature methods</a:t>
              </a:r>
              <a:r>
                <a:rPr lang="en-US" sz="1100" b="0" i="0" dirty="0">
                  <a:solidFill>
                    <a:srgbClr val="222222"/>
                  </a:solidFill>
                  <a:effectLst/>
                  <a:latin typeface="+mj-lt"/>
                </a:rPr>
                <a:t> 18.2 (2021): 194-202.</a:t>
              </a:r>
              <a:endParaRPr lang="en-US" sz="1100" dirty="0">
                <a:latin typeface="+mj-lt"/>
              </a:endParaRPr>
            </a:p>
          </p:txBody>
        </p:sp>
      </p:grpSp>
    </p:spTree>
    <p:extLst>
      <p:ext uri="{BB962C8B-B14F-4D97-AF65-F5344CB8AC3E}">
        <p14:creationId xmlns:p14="http://schemas.microsoft.com/office/powerpoint/2010/main" val="38411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3D63DB3-0C9B-43EA-A77B-E8DDD41E31D0}"/>
              </a:ext>
            </a:extLst>
          </p:cNvPr>
          <p:cNvSpPr>
            <a:spLocks noGrp="1"/>
          </p:cNvSpPr>
          <p:nvPr>
            <p:ph type="ctrTitle"/>
          </p:nvPr>
        </p:nvSpPr>
        <p:spPr>
          <a:xfrm>
            <a:off x="1761110" y="2258839"/>
            <a:ext cx="9593233" cy="2600608"/>
          </a:xfrm>
        </p:spPr>
        <p:txBody>
          <a:bodyPr>
            <a:normAutofit/>
          </a:bodyPr>
          <a:lstStyle/>
          <a:p>
            <a:r>
              <a:rPr lang="en-US" altLang="zh-CN" sz="6000" dirty="0"/>
              <a:t>Questions are welcome</a:t>
            </a:r>
            <a:endParaRPr lang="zh-CN" altLang="en-US" sz="6000" dirty="0"/>
          </a:p>
        </p:txBody>
      </p:sp>
    </p:spTree>
    <p:extLst>
      <p:ext uri="{BB962C8B-B14F-4D97-AF65-F5344CB8AC3E}">
        <p14:creationId xmlns:p14="http://schemas.microsoft.com/office/powerpoint/2010/main" val="1152298934"/>
      </p:ext>
    </p:extLst>
  </p:cSld>
  <p:clrMapOvr>
    <a:masterClrMapping/>
  </p:clrMapOvr>
</p:sld>
</file>

<file path=ppt/theme/theme1.xml><?xml version="1.0" encoding="utf-8"?>
<a:theme xmlns:a="http://schemas.openxmlformats.org/drawingml/2006/main" name="风景">
  <a:themeElements>
    <a:clrScheme name="风景">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风景">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风景">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1_风景">
  <a:themeElements>
    <a:clrScheme name="风景">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风景">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风景">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风景</Template>
  <TotalTime>937</TotalTime>
  <Words>1096</Words>
  <Application>Microsoft Office PowerPoint</Application>
  <PresentationFormat>Widescreen</PresentationFormat>
  <Paragraphs>125</Paragraphs>
  <Slides>11</Slides>
  <Notes>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等线</vt:lpstr>
      <vt:lpstr>Arial</vt:lpstr>
      <vt:lpstr>Calibri</vt:lpstr>
      <vt:lpstr>Cambria Math</vt:lpstr>
      <vt:lpstr>Century Schoolbook</vt:lpstr>
      <vt:lpstr>Times New Roman</vt:lpstr>
      <vt:lpstr>Wingdings 2</vt:lpstr>
      <vt:lpstr>风景</vt:lpstr>
      <vt:lpstr>1_风景</vt:lpstr>
      <vt:lpstr>PowerPoint Presentation</vt:lpstr>
      <vt:lpstr>PowerPoint Presentation</vt:lpstr>
      <vt:lpstr>PowerPoint Presentation</vt:lpstr>
      <vt:lpstr>2 TEST - BKG</vt:lpstr>
      <vt:lpstr>2 TEST - SRC</vt:lpstr>
      <vt:lpstr>2 TEST</vt:lpstr>
      <vt:lpstr>PowerPoint Presentation</vt:lpstr>
      <vt:lpstr>PowerPoint Presentation</vt:lpstr>
      <vt:lpstr>PSF of LHAASO</vt:lpstr>
      <vt:lpstr>PowerPoint Presentation</vt:lpstr>
      <vt:lpstr>Questions are welcome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高海拔宇宙线观测站数据分析项目简介</dc:title>
  <dc:creator>龚 星维</dc:creator>
  <cp:lastModifiedBy>云 博</cp:lastModifiedBy>
  <cp:revision>62</cp:revision>
  <dcterms:created xsi:type="dcterms:W3CDTF">2022-11-07T04:52:35Z</dcterms:created>
  <dcterms:modified xsi:type="dcterms:W3CDTF">2024-10-27T04:31:55Z</dcterms:modified>
</cp:coreProperties>
</file>